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3"/>
  </p:notesMasterIdLst>
  <p:sldIdLst>
    <p:sldId id="256" r:id="rId5"/>
    <p:sldId id="258" r:id="rId6"/>
    <p:sldId id="257" r:id="rId7"/>
    <p:sldId id="279" r:id="rId8"/>
    <p:sldId id="259" r:id="rId9"/>
    <p:sldId id="263" r:id="rId10"/>
    <p:sldId id="277" r:id="rId11"/>
    <p:sldId id="260" r:id="rId12"/>
    <p:sldId id="262" r:id="rId13"/>
    <p:sldId id="269" r:id="rId14"/>
    <p:sldId id="270" r:id="rId15"/>
    <p:sldId id="264" r:id="rId16"/>
    <p:sldId id="265" r:id="rId17"/>
    <p:sldId id="266" r:id="rId18"/>
    <p:sldId id="261" r:id="rId19"/>
    <p:sldId id="268" r:id="rId20"/>
    <p:sldId id="271" r:id="rId21"/>
    <p:sldId id="278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8686"/>
    <a:srgbClr val="E5EEDE"/>
    <a:srgbClr val="FF5050"/>
    <a:srgbClr val="4DB3FF"/>
    <a:srgbClr val="8D97BA"/>
    <a:srgbClr val="DBDF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A76A8A-B5F0-4394-BC20-DCE16E894C7C}" type="datetimeFigureOut">
              <a:rPr lang="en-GB" smtClean="0"/>
              <a:t>21/10/2025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2075B3-14D3-431A-8E2B-1FF49C32E5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0605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CD4B8-60DD-5FC8-8FDB-A7FB6AE9D5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F90B32-89A4-D1E2-DB40-0FF44C203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271EB-5061-4520-6D1C-EA2FEE03E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AF3C5-EC6C-4217-B118-33F9C225C296}" type="datetime1">
              <a:rPr lang="en-GB" smtClean="0"/>
              <a:t>21/10/2025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2260B-8662-589B-0CD3-7940DC246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57F298-12B4-E96F-2B16-E8029D920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DC76A-8DF0-41FB-8A8C-1F8E409CC64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32754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0915D-9B89-FA0D-B964-C81DD4DD6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DC3DC-D275-54B9-A290-AC5D17BA7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95A58E-9F3E-B64E-E8F4-73FD842E8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23B71-DF1D-4D99-B937-EE38029EEDB7}" type="datetime1">
              <a:rPr lang="en-GB" smtClean="0"/>
              <a:t>21/10/2025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1AAACB-E551-174C-D948-A8ADEEFB6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2F2D48-48A5-49A3-7B78-51F13697D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DC76A-8DF0-41FB-8A8C-1F8E409CC64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28658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F14AE-6593-219A-9CB3-0F0834974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545AB9-EE4B-94B3-A725-6F40A6B8C6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DBB57C-BD4A-764C-B311-8E85D0957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61CC3-092F-43E6-8823-D860CC7AB4D2}" type="datetime1">
              <a:rPr lang="en-GB" smtClean="0"/>
              <a:t>21/10/2025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F23732-32A2-F4CA-2D70-94686A880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9CA180-3D4C-8069-4393-D81BAF0E9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DC76A-8DF0-41FB-8A8C-1F8E409CC64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03685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DCFCD-B6BF-F6AF-7832-6FD6F3320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3707B-D1F8-8EB2-2672-B4214950CB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488267-E796-91A6-DC12-6047DBA6FF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631F5E-2C86-BFA7-A718-7D234805F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8C041-D53B-4B85-B4A3-B52DE47F4969}" type="datetime1">
              <a:rPr lang="en-GB" smtClean="0"/>
              <a:t>21/10/2025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C93A89-47E9-FC3A-0FB1-A921DDB37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202991-3E5D-8BAE-2095-534C291B6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DC76A-8DF0-41FB-8A8C-1F8E409CC64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62587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80A92-A035-AFEA-74C1-15396CACF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03B067-E796-A053-2465-DF81825B65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AF82FE-731F-A88A-C686-8E69C4C88A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7FCB01-940B-8551-782F-18350928C9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FCAE55-8F8C-DD30-8E77-11D6F4280A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208DD7-9EC0-0456-F1B8-B11427523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49577-7B05-4884-8967-D803B816BC5F}" type="datetime1">
              <a:rPr lang="en-GB" smtClean="0"/>
              <a:t>21/10/2025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F7B7A8-2019-91A6-98C0-2A3C7B2C4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8AD17F-246A-C78E-B9C4-F42AF33F7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DC76A-8DF0-41FB-8A8C-1F8E409CC64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62243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4D3F9-7FC1-94A0-EE61-80DE8EC3F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46B6F1-13EE-DB2C-D3D2-643F13B8B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55CE6-F974-4452-A828-CC36F1AEE837}" type="datetime1">
              <a:rPr lang="en-GB" smtClean="0"/>
              <a:t>21/10/2025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63867B-BC5B-8C1D-A1CD-1C65DF539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2CA427-FD5E-9FEC-B175-F308DBB26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DC76A-8DF0-41FB-8A8C-1F8E409CC64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86433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84312F-5A3A-9A86-6FE4-934FE1C7E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AB4E4-432B-4A62-8204-E73AFEB0A28B}" type="datetime1">
              <a:rPr lang="en-GB" smtClean="0"/>
              <a:t>21/10/2025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48E5D7-7448-C0B4-6930-EDC2744CC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720AB9-AA99-AFA1-77C3-00C63AC71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DC76A-8DF0-41FB-8A8C-1F8E409CC64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9402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D95F6-8603-C1F8-2624-464105CEF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3698A-FDD7-D2EC-3D7D-2A869FD931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71F7B7-1ED7-7250-E40E-3DC50C236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A9CA36-E4C8-8EC0-4351-DBE7FA91C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3F517-8C25-4C57-B384-FA737C3FE503}" type="datetime1">
              <a:rPr lang="en-GB" smtClean="0"/>
              <a:t>21/10/2025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DDD1C-BF49-4D51-B867-A2CD19E1B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C47C16-4674-0697-D3D7-639E3E2E5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DC76A-8DF0-41FB-8A8C-1F8E409CC64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07020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17174-0C70-ED10-A94E-67403663F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ECA2BB-761A-C98C-596A-BCBEE6EB06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939F2C-7A70-017A-7BFA-DB9D44A0C4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CA1DF9-617E-67AD-8A4E-FFBEBE5BB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50C66-C059-401E-A0A8-19794D8FFE5E}" type="datetime1">
              <a:rPr lang="en-GB" smtClean="0"/>
              <a:t>21/10/2025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F041CD-B6BD-1DD2-50E4-D45B47CA6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88C800-07C5-EAA4-E736-EEF08085D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DC76A-8DF0-41FB-8A8C-1F8E409CC64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94050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70DBF-802D-4D7B-9EC0-13A55B41A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58C330-D3C5-058A-3445-72AC7993CA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21CC9-ACA5-5E20-43D0-CFF818616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40E87-5E43-40F7-A458-D737809B8269}" type="datetime1">
              <a:rPr lang="en-GB" smtClean="0"/>
              <a:t>21/10/2025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9F3341-EE32-2E88-20EB-81FF8752C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7EEFA7-33BB-A65B-89BD-2DE995C28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DC76A-8DF0-41FB-8A8C-1F8E409CC64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871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3859D3-B361-0B8B-459E-E8610F2BFD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136B4F-3889-D945-02BC-EB684AF3B7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A997B-B421-FAF1-55C6-D4C679154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9C3DB-C2B6-4407-929D-97D69611AEA9}" type="datetime1">
              <a:rPr lang="en-GB" smtClean="0"/>
              <a:t>21/10/2025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BF83B-86AC-0BB8-AB1A-18F0EB391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78046C-884A-532F-72B2-11EF410A5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DC76A-8DF0-41FB-8A8C-1F8E409CC64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12902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ED66BE-0AA5-97E2-FCA3-BD1041412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309721-9064-E46A-1151-7A0E5C5108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DA72AA-080F-EF39-D34D-203BAF671B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CF5BB2-1F29-4037-873E-1E66A9176ECE}" type="datetime1">
              <a:rPr lang="en-GB" smtClean="0"/>
              <a:t>21/10/2025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5B902-E5ED-F6F9-E74C-979C6DF8DC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0A0EDB-EBF6-F2B8-0C54-4CF153BCC0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5DC76A-8DF0-41FB-8A8C-1F8E409CC64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50279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7" Type="http://schemas.openxmlformats.org/officeDocument/2006/relationships/image" Target="../media/image9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0.png"/><Relationship Id="rId5" Type="http://schemas.openxmlformats.org/officeDocument/2006/relationships/image" Target="../media/image140.png"/><Relationship Id="rId4" Type="http://schemas.openxmlformats.org/officeDocument/2006/relationships/image" Target="../media/image130.png"/><Relationship Id="rId9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32.png"/><Relationship Id="rId7" Type="http://schemas.openxmlformats.org/officeDocument/2006/relationships/image" Target="../media/image65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10.png"/><Relationship Id="rId4" Type="http://schemas.openxmlformats.org/officeDocument/2006/relationships/image" Target="../media/image20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181EB-816D-E7FB-8750-EB63C524B5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57271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it-IT" noProof="0" dirty="0"/>
              <a:t>Uso delle correlazioni temporali nella tecnica ISM</a:t>
            </a:r>
            <a:br>
              <a:rPr lang="it-IT" noProof="0" dirty="0"/>
            </a:br>
            <a:r>
              <a:rPr lang="it-IT" noProof="0" dirty="0"/>
              <a:t>(Image Scanning Microscopy)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BA0ECA-170A-2A9F-9048-343141B6E0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2284" y="5034116"/>
            <a:ext cx="9144000" cy="1226574"/>
          </a:xfrm>
        </p:spPr>
        <p:txBody>
          <a:bodyPr>
            <a:normAutofit/>
          </a:bodyPr>
          <a:lstStyle/>
          <a:p>
            <a:pPr algn="l"/>
            <a:r>
              <a:rPr lang="it-IT" sz="1600" noProof="0" dirty="0"/>
              <a:t>Candidato: Giovanni Carminati</a:t>
            </a:r>
          </a:p>
          <a:p>
            <a:pPr algn="l"/>
            <a:r>
              <a:rPr lang="it-IT" sz="1600" noProof="0" dirty="0"/>
              <a:t>Relatrice: Dott.ssa Margaux Bouzin</a:t>
            </a:r>
          </a:p>
          <a:p>
            <a:pPr algn="l"/>
            <a:r>
              <a:rPr lang="it-IT" sz="1600" noProof="0" dirty="0"/>
              <a:t>Correlatore: Dott. Riccardo Bolzoni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377F353-430D-4CC1-EE35-6034DAD39E7B}"/>
              </a:ext>
            </a:extLst>
          </p:cNvPr>
          <p:cNvGrpSpPr/>
          <p:nvPr/>
        </p:nvGrpSpPr>
        <p:grpSpPr>
          <a:xfrm>
            <a:off x="341748" y="337038"/>
            <a:ext cx="4963782" cy="1330988"/>
            <a:chOff x="341748" y="337038"/>
            <a:chExt cx="4963782" cy="1330988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9B60B1F8-4787-1B4E-2CCE-C04134B0A1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41748" y="337038"/>
              <a:ext cx="1361238" cy="1330988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FE28CFD-A280-76ED-1438-C4CBDA5A05DD}"/>
                </a:ext>
              </a:extLst>
            </p:cNvPr>
            <p:cNvSpPr txBox="1"/>
            <p:nvPr/>
          </p:nvSpPr>
          <p:spPr>
            <a:xfrm>
              <a:off x="1702986" y="536473"/>
              <a:ext cx="360254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noProof="0" dirty="0"/>
                <a:t>Università di Milano Bicocca</a:t>
              </a:r>
            </a:p>
            <a:p>
              <a:r>
                <a:rPr lang="it-IT" noProof="0" dirty="0"/>
                <a:t>Dipartimento di Fisica </a:t>
              </a:r>
            </a:p>
            <a:p>
              <a:r>
                <a:rPr lang="it-IT" noProof="0" dirty="0"/>
                <a:t>‘G. Occhialini’</a:t>
              </a:r>
            </a:p>
          </p:txBody>
        </p:sp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AFF355C-6417-FA98-E610-C45618A42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DC76A-8DF0-41FB-8A8C-1F8E409CC644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180529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DA3DE-205E-B914-E124-E071E3AA2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034548" cy="577584"/>
          </a:xfrm>
        </p:spPr>
        <p:txBody>
          <a:bodyPr>
            <a:normAutofit fontScale="90000"/>
          </a:bodyPr>
          <a:lstStyle/>
          <a:p>
            <a:r>
              <a:rPr lang="it-IT" sz="4000" noProof="0" dirty="0"/>
              <a:t>Cenni di microscopia confocale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0746E74-2753-5179-B9EE-2C0B93D1BC4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40" y="1675576"/>
            <a:ext cx="4597871" cy="3827994"/>
          </a:xfr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70719DC2-98C5-975D-A5FA-767B0BCA6064}"/>
              </a:ext>
            </a:extLst>
          </p:cNvPr>
          <p:cNvSpPr/>
          <p:nvPr/>
        </p:nvSpPr>
        <p:spPr>
          <a:xfrm>
            <a:off x="5859780" y="1585857"/>
            <a:ext cx="5265420" cy="40148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2491479-E383-9FE9-6BCC-98794348B22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3392" y="2288271"/>
            <a:ext cx="4692797" cy="3098157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A790E02-CE0C-38F6-8328-3C7D015287F1}"/>
              </a:ext>
            </a:extLst>
          </p:cNvPr>
          <p:cNvSpPr txBox="1"/>
          <p:nvPr/>
        </p:nvSpPr>
        <p:spPr>
          <a:xfrm>
            <a:off x="838200" y="1029245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noProof="0" dirty="0"/>
              <a:t>La microscopia confocale utilizza un </a:t>
            </a:r>
            <a:r>
              <a:rPr lang="it-IT" b="1" noProof="0" dirty="0">
                <a:solidFill>
                  <a:srgbClr val="FF0000"/>
                </a:solidFill>
              </a:rPr>
              <a:t>laser</a:t>
            </a:r>
            <a:r>
              <a:rPr lang="it-IT" noProof="0" dirty="0"/>
              <a:t> per eccitare il campione e un </a:t>
            </a:r>
            <a:r>
              <a:rPr lang="it-IT" b="1" noProof="0" dirty="0"/>
              <a:t>pinhole</a:t>
            </a:r>
            <a:r>
              <a:rPr lang="it-IT" noProof="0" dirty="0"/>
              <a:t> per escludere la luce proveniente da piani fuori fuoco.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E4050E-6156-A721-0A72-6A2607125669}"/>
              </a:ext>
            </a:extLst>
          </p:cNvPr>
          <p:cNvSpPr txBox="1"/>
          <p:nvPr/>
        </p:nvSpPr>
        <p:spPr>
          <a:xfrm>
            <a:off x="6019660" y="1585857"/>
            <a:ext cx="51066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noProof="0" dirty="0"/>
              <a:t>Riducendo l'apertura del pinhole si migliora la risoluzione, ma si perde intensità di segnale.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417BDE59-E569-04DB-0BDF-BAFD29EF1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96300" y="5929630"/>
            <a:ext cx="2743200" cy="365125"/>
          </a:xfrm>
        </p:spPr>
        <p:txBody>
          <a:bodyPr/>
          <a:lstStyle/>
          <a:p>
            <a:fld id="{B85DC76A-8DF0-41FB-8A8C-1F8E409CC644}" type="slidenum">
              <a:rPr lang="en-GB" smtClean="0"/>
              <a:t>2</a:t>
            </a:fld>
            <a:endParaRPr lang="en-GB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CC92C2A-1D01-1CDF-E196-5003595FE605}"/>
              </a:ext>
            </a:extLst>
          </p:cNvPr>
          <p:cNvGrpSpPr/>
          <p:nvPr/>
        </p:nvGrpSpPr>
        <p:grpSpPr>
          <a:xfrm>
            <a:off x="952500" y="2113015"/>
            <a:ext cx="3032761" cy="1600200"/>
            <a:chOff x="1089660" y="2506980"/>
            <a:chExt cx="3032761" cy="160020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6040238-6F95-09B3-311F-E319A934CBE5}"/>
                </a:ext>
              </a:extLst>
            </p:cNvPr>
            <p:cNvGrpSpPr/>
            <p:nvPr/>
          </p:nvGrpSpPr>
          <p:grpSpPr>
            <a:xfrm>
              <a:off x="1089660" y="2506980"/>
              <a:ext cx="3032761" cy="1600200"/>
              <a:chOff x="1089660" y="2506980"/>
              <a:chExt cx="3032761" cy="1600200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CD07653-00E6-2DC2-307A-D06412DDBF4D}"/>
                  </a:ext>
                </a:extLst>
              </p:cNvPr>
              <p:cNvSpPr/>
              <p:nvPr/>
            </p:nvSpPr>
            <p:spPr>
              <a:xfrm>
                <a:off x="3225957" y="2506980"/>
                <a:ext cx="896464" cy="282186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IT" noProof="0" dirty="0"/>
                  <a:t>PMT</a:t>
                </a:r>
              </a:p>
            </p:txBody>
          </p:sp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0090CA4F-CB00-DA14-E75E-346B791D43E9}"/>
                  </a:ext>
                </a:extLst>
              </p:cNvPr>
              <p:cNvSpPr/>
              <p:nvPr/>
            </p:nvSpPr>
            <p:spPr>
              <a:xfrm>
                <a:off x="1089660" y="3642360"/>
                <a:ext cx="838200" cy="464820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LASER</a:t>
                </a:r>
              </a:p>
            </p:txBody>
          </p:sp>
        </p:grp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D4E7EE6-3763-ABBE-F17A-1EF902374D2D}"/>
                </a:ext>
              </a:extLst>
            </p:cNvPr>
            <p:cNvSpPr/>
            <p:nvPr/>
          </p:nvSpPr>
          <p:spPr>
            <a:xfrm>
              <a:off x="2125980" y="3108960"/>
              <a:ext cx="586740" cy="32004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4FF944FB-28F0-A1F0-514A-CEA91DD4DDB5}"/>
              </a:ext>
            </a:extLst>
          </p:cNvPr>
          <p:cNvSpPr/>
          <p:nvPr/>
        </p:nvSpPr>
        <p:spPr>
          <a:xfrm>
            <a:off x="951411" y="2295193"/>
            <a:ext cx="1219200" cy="32004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PINHOLE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508ABFE-139E-FC2C-8594-5108584BFFD9}"/>
              </a:ext>
            </a:extLst>
          </p:cNvPr>
          <p:cNvCxnSpPr/>
          <p:nvPr/>
        </p:nvCxnSpPr>
        <p:spPr>
          <a:xfrm>
            <a:off x="2194560" y="2471155"/>
            <a:ext cx="80541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4BFA748-35DA-38D0-E216-16310FFD0DC4}"/>
              </a:ext>
            </a:extLst>
          </p:cNvPr>
          <p:cNvSpPr/>
          <p:nvPr/>
        </p:nvSpPr>
        <p:spPr>
          <a:xfrm>
            <a:off x="4046220" y="2295193"/>
            <a:ext cx="512148" cy="41979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2590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046CA-BA81-6D39-B70A-5D9401BA5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6496"/>
            <a:ext cx="4363065" cy="579420"/>
          </a:xfrm>
        </p:spPr>
        <p:txBody>
          <a:bodyPr>
            <a:normAutofit fontScale="90000"/>
          </a:bodyPr>
          <a:lstStyle/>
          <a:p>
            <a:r>
              <a:rPr lang="it-IT" noProof="0" dirty="0"/>
              <a:t>Risoluzione spaziale</a:t>
            </a:r>
          </a:p>
        </p:txBody>
      </p:sp>
      <p:pic>
        <p:nvPicPr>
          <p:cNvPr id="10" name="Picture 9" descr="Diagram of a diagram showing a point-spread function&#10;&#10;AI-generated content may be incorrect.">
            <a:extLst>
              <a:ext uri="{FF2B5EF4-FFF2-40B4-BE49-F238E27FC236}">
                <a16:creationId xmlns:a16="http://schemas.microsoft.com/office/drawing/2014/main" id="{7E1A82D6-713A-EEE7-4D82-5DE516C8E7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1859" y="2429381"/>
            <a:ext cx="4260461" cy="409659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E9B6091-CF25-6E34-5D66-E5DC6C3FAF86}"/>
              </a:ext>
            </a:extLst>
          </p:cNvPr>
          <p:cNvSpPr txBox="1"/>
          <p:nvPr/>
        </p:nvSpPr>
        <p:spPr>
          <a:xfrm>
            <a:off x="220167" y="1061594"/>
            <a:ext cx="6672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noProof="0" dirty="0"/>
              <a:t>Il fenomeno della </a:t>
            </a:r>
            <a:r>
              <a:rPr lang="it-IT" b="1" noProof="0" dirty="0"/>
              <a:t>diffrazione</a:t>
            </a:r>
            <a:r>
              <a:rPr lang="it-IT" noProof="0" dirty="0"/>
              <a:t> limita la risoluzione del microscopio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FF5FF7-0052-00C0-2986-B522EA964F6A}"/>
              </a:ext>
            </a:extLst>
          </p:cNvPr>
          <p:cNvSpPr txBox="1"/>
          <p:nvPr/>
        </p:nvSpPr>
        <p:spPr>
          <a:xfrm>
            <a:off x="220167" y="1676604"/>
            <a:ext cx="6420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noProof="0" dirty="0"/>
              <a:t>Una sorgente puntuale appare come un </a:t>
            </a:r>
            <a:r>
              <a:rPr lang="it-IT" b="1" noProof="0" dirty="0"/>
              <a:t>disco di Airy (PSF)</a:t>
            </a:r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757B342A-01C0-0117-E5ED-0A598D85A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DC76A-8DF0-41FB-8A8C-1F8E409CC644}" type="slidenum">
              <a:rPr lang="en-GB" smtClean="0"/>
              <a:t>3</a:t>
            </a:fld>
            <a:endParaRPr lang="en-GB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2701BC3-9CB6-8BA8-32DA-11CE92F84AB5}"/>
              </a:ext>
            </a:extLst>
          </p:cNvPr>
          <p:cNvGrpSpPr/>
          <p:nvPr/>
        </p:nvGrpSpPr>
        <p:grpSpPr>
          <a:xfrm>
            <a:off x="6600930" y="3867711"/>
            <a:ext cx="4752870" cy="2353813"/>
            <a:chOff x="7315200" y="432079"/>
            <a:chExt cx="4752870" cy="1867774"/>
          </a:xfrm>
          <a:solidFill>
            <a:schemeClr val="accent1"/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0C17E4F5-8166-8A82-DD54-ADAA922E27A2}"/>
                    </a:ext>
                  </a:extLst>
                </p:cNvPr>
                <p:cNvSpPr/>
                <p:nvPr/>
              </p:nvSpPr>
              <p:spPr>
                <a:xfrm>
                  <a:off x="7315200" y="432079"/>
                  <a:ext cx="4752870" cy="1867774"/>
                </a:xfrm>
                <a:prstGeom prst="rect">
                  <a:avLst/>
                </a:prstGeom>
                <a:grpFill/>
                <a:ln>
                  <a:solidFill>
                    <a:schemeClr val="accent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it-IT" sz="2800" b="1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 sz="2800" b="1" i="1" noProof="0" smtClean="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a:rPr lang="it-IT" sz="2800" b="1" i="1" noProof="0" smtClean="0">
                                <a:latin typeface="Cambria Math" panose="02040503050406030204" pitchFamily="18" charset="0"/>
                              </a:rPr>
                              <m:t>𝑨𝒊𝒓𝒚</m:t>
                            </m:r>
                          </m:sub>
                        </m:sSub>
                        <m:r>
                          <a:rPr lang="it-IT" sz="2800" b="1" i="1" noProof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GB" sz="2800" b="1" i="1" noProof="0" smtClean="0">
                            <a:latin typeface="Cambria Math" panose="02040503050406030204" pitchFamily="18" charset="0"/>
                          </a:rPr>
                          <m:t>0.61</m:t>
                        </m:r>
                        <m:f>
                          <m:fPr>
                            <m:ctrlPr>
                              <a:rPr lang="it-IT" sz="2800" b="1" i="1" noProof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it-IT" sz="2800" b="1" i="1" noProof="0" smtClean="0">
                                <a:latin typeface="Cambria Math" panose="02040503050406030204" pitchFamily="18" charset="0"/>
                              </a:rPr>
                              <m:t>𝝀</m:t>
                            </m:r>
                          </m:num>
                          <m:den>
                            <m:r>
                              <a:rPr lang="it-IT" sz="2800" b="1" i="1" noProof="0" smtClean="0">
                                <a:latin typeface="Cambria Math" panose="02040503050406030204" pitchFamily="18" charset="0"/>
                              </a:rPr>
                              <m:t>𝑵𝑨</m:t>
                            </m:r>
                          </m:den>
                        </m:f>
                      </m:oMath>
                    </m:oMathPara>
                  </a14:m>
                  <a:endParaRPr lang="it-IT" sz="2800" b="1" noProof="0" dirty="0"/>
                </a:p>
                <a:p>
                  <a:pPr algn="ctr"/>
                  <a:endParaRPr lang="it-IT" noProof="0" dirty="0"/>
                </a:p>
              </p:txBody>
            </p:sp>
          </mc:Choice>
          <mc:Fallback xmlns=""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0C17E4F5-8166-8A82-DD54-ADAA922E27A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15200" y="432079"/>
                  <a:ext cx="4752870" cy="186777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chemeClr val="accent4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C3F77C2-7573-CA8C-2846-D13E87C94B5D}"/>
                </a:ext>
              </a:extLst>
            </p:cNvPr>
            <p:cNvSpPr txBox="1"/>
            <p:nvPr/>
          </p:nvSpPr>
          <p:spPr>
            <a:xfrm>
              <a:off x="8296622" y="522750"/>
              <a:ext cx="2790026" cy="414987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2400" noProof="0" dirty="0">
                  <a:solidFill>
                    <a:schemeClr val="bg1"/>
                  </a:solidFill>
                </a:rPr>
                <a:t>LEGGE DI ABBE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6F9C4A4-21A0-B70F-BF25-1F0AFD8624E1}"/>
                    </a:ext>
                  </a:extLst>
                </p:cNvPr>
                <p:cNvSpPr txBox="1"/>
                <p:nvPr/>
              </p:nvSpPr>
              <p:spPr>
                <a:xfrm>
                  <a:off x="7431332" y="1747767"/>
                  <a:ext cx="4520605" cy="310469"/>
                </a:xfrm>
                <a:prstGeom prst="rect">
                  <a:avLst/>
                </a:prstGeom>
                <a:grpFill/>
                <a:ln>
                  <a:solidFill>
                    <a:schemeClr val="bg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it-IT" b="0" i="1" noProof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it-IT" b="0" i="1" noProof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=770</m:t>
                        </m:r>
                        <m:r>
                          <a:rPr lang="it-IT" b="0" i="1" noProof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𝑛𝑚</m:t>
                        </m:r>
                        <m:r>
                          <a:rPr lang="it-IT" b="0" i="1" noProof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it-IT" b="0" i="1" noProof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𝑁𝐴</m:t>
                        </m:r>
                        <m:r>
                          <a:rPr lang="it-IT" b="0" i="1" noProof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=1.1 → </m:t>
                        </m:r>
                        <m:sSub>
                          <m:sSubPr>
                            <m:ctrlPr>
                              <a:rPr lang="it-IT" b="0" i="1" noProof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 b="0" i="1" noProof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a:rPr lang="it-IT" b="0" i="1" noProof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𝐴𝑖𝑟𝑦</m:t>
                            </m:r>
                          </m:sub>
                        </m:sSub>
                        <m:r>
                          <a:rPr lang="it-IT" b="0" i="1" noProof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=448</m:t>
                        </m:r>
                        <m:r>
                          <a:rPr lang="it-IT" b="0" i="1" noProof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𝑛𝑚</m:t>
                        </m:r>
                      </m:oMath>
                    </m:oMathPara>
                  </a14:m>
                  <a:endParaRPr lang="it-IT" b="0" i="1" noProof="0" dirty="0">
                    <a:solidFill>
                      <a:schemeClr val="bg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6F9C4A4-21A0-B70F-BF25-1F0AFD8624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1332" y="1747767"/>
                  <a:ext cx="4520605" cy="310469"/>
                </a:xfrm>
                <a:prstGeom prst="rect">
                  <a:avLst/>
                </a:prstGeom>
                <a:blipFill>
                  <a:blip r:embed="rId4"/>
                  <a:stretch>
                    <a:fillRect b="-4478"/>
                  </a:stretch>
                </a:blipFill>
                <a:ln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1" name="Content Placeholder 27" descr="A group of green lights&#10;&#10;AI-generated content may be incorrect.">
            <a:extLst>
              <a:ext uri="{FF2B5EF4-FFF2-40B4-BE49-F238E27FC236}">
                <a16:creationId xmlns:a16="http://schemas.microsoft.com/office/drawing/2014/main" id="{653974B2-6A75-9791-73E5-13698D6C89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830" y="328098"/>
            <a:ext cx="3193661" cy="322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927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DDF3BF8-1AFE-1789-0F1A-67720D8B106C}"/>
              </a:ext>
            </a:extLst>
          </p:cNvPr>
          <p:cNvSpPr/>
          <p:nvPr/>
        </p:nvSpPr>
        <p:spPr>
          <a:xfrm>
            <a:off x="6348753" y="2523690"/>
            <a:ext cx="5226100" cy="116704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C5EDE8-52A8-E7EB-1AB4-995F77A1E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48" y="211006"/>
            <a:ext cx="9950246" cy="470617"/>
          </a:xfrm>
        </p:spPr>
        <p:txBody>
          <a:bodyPr>
            <a:normAutofit fontScale="90000"/>
          </a:bodyPr>
          <a:lstStyle/>
          <a:p>
            <a:r>
              <a:rPr lang="en-GB" sz="4000" dirty="0" err="1"/>
              <a:t>Impiego</a:t>
            </a:r>
            <a:r>
              <a:rPr lang="en-GB" sz="4000" dirty="0"/>
              <a:t> </a:t>
            </a:r>
            <a:r>
              <a:rPr lang="en-GB" sz="4000" dirty="0" err="1"/>
              <a:t>delle</a:t>
            </a:r>
            <a:r>
              <a:rPr lang="en-GB" sz="4000" dirty="0"/>
              <a:t> </a:t>
            </a:r>
            <a:r>
              <a:rPr lang="en-GB" sz="4000" dirty="0" err="1"/>
              <a:t>tracce</a:t>
            </a:r>
            <a:r>
              <a:rPr lang="en-GB" sz="4000" dirty="0"/>
              <a:t> </a:t>
            </a:r>
            <a:r>
              <a:rPr lang="en-GB" sz="4000" dirty="0" err="1"/>
              <a:t>temporali</a:t>
            </a:r>
            <a:r>
              <a:rPr lang="en-GB" sz="4000" dirty="0"/>
              <a:t> </a:t>
            </a:r>
            <a:r>
              <a:rPr lang="en-GB" sz="4000" dirty="0" err="1"/>
              <a:t>mediante</a:t>
            </a:r>
            <a:r>
              <a:rPr lang="en-GB" sz="4000" dirty="0"/>
              <a:t> SOFI</a:t>
            </a:r>
          </a:p>
        </p:txBody>
      </p:sp>
      <p:pic>
        <p:nvPicPr>
          <p:cNvPr id="7" name="Content Placeholder 6" descr="A diagram of a diagram of a diagram&#10;&#10;AI-generated content may be incorrect.">
            <a:extLst>
              <a:ext uri="{FF2B5EF4-FFF2-40B4-BE49-F238E27FC236}">
                <a16:creationId xmlns:a16="http://schemas.microsoft.com/office/drawing/2014/main" id="{2AAC2C3A-5020-6D60-F868-E7E31199C7F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86" y="1682394"/>
            <a:ext cx="6129154" cy="4600420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FAAE1A-26A8-62E5-C43F-5BDD797FC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DC76A-8DF0-41FB-8A8C-1F8E409CC644}" type="slidenum">
              <a:rPr lang="en-GB" smtClean="0"/>
              <a:t>4</a:t>
            </a:fld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341E84-B0CD-FE03-09DE-97FD20C9B04D}"/>
              </a:ext>
            </a:extLst>
          </p:cNvPr>
          <p:cNvSpPr txBox="1"/>
          <p:nvPr/>
        </p:nvSpPr>
        <p:spPr>
          <a:xfrm>
            <a:off x="136155" y="858843"/>
            <a:ext cx="114386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La Super-</a:t>
            </a:r>
            <a:r>
              <a:rPr lang="it-IT" dirty="0" err="1"/>
              <a:t>resolution</a:t>
            </a:r>
            <a:r>
              <a:rPr lang="it-IT" dirty="0"/>
              <a:t> Optical </a:t>
            </a:r>
            <a:r>
              <a:rPr lang="it-IT" dirty="0" err="1"/>
              <a:t>Fluctuation</a:t>
            </a:r>
            <a:r>
              <a:rPr lang="it-IT" dirty="0"/>
              <a:t> Imaging (SOFI) si basa sulle fluttuazioni di intensità del campione e consiste nell’attribuire a ciascun pixel il valore della funzione di autocorrelazione calcolata al tempo τ</a:t>
            </a:r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AD0F22-53C4-30CE-3FCE-9363BAEA8803}"/>
              </a:ext>
            </a:extLst>
          </p:cNvPr>
          <p:cNvSpPr txBox="1"/>
          <p:nvPr/>
        </p:nvSpPr>
        <p:spPr>
          <a:xfrm>
            <a:off x="5638800" y="2974258"/>
            <a:ext cx="65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GB" dirty="0"/>
          </a:p>
          <a:p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4C2A529-17CC-194D-AD12-65184F50FCEC}"/>
                  </a:ext>
                </a:extLst>
              </p:cNvPr>
              <p:cNvSpPr txBox="1"/>
              <p:nvPr/>
            </p:nvSpPr>
            <p:spPr>
              <a:xfrm>
                <a:off x="6585796" y="2717658"/>
                <a:ext cx="3093347" cy="2560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160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𝑃𝑆𝐹</m:t>
                        </m:r>
                        <m:d>
                          <m:d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GB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en-GB" sz="1600" i="1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GB" sz="16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4C2A529-17CC-194D-AD12-65184F50FC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5796" y="2717658"/>
                <a:ext cx="3093347" cy="256096"/>
              </a:xfrm>
              <a:prstGeom prst="rect">
                <a:avLst/>
              </a:prstGeom>
              <a:blipFill>
                <a:blip r:embed="rId3"/>
                <a:stretch>
                  <a:fillRect l="-3740" t="-157143" b="-2452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E072376-9F1D-931B-F0E9-5F7936D638A4}"/>
                  </a:ext>
                </a:extLst>
              </p:cNvPr>
              <p:cNvSpPr txBox="1"/>
              <p:nvPr/>
            </p:nvSpPr>
            <p:spPr>
              <a:xfrm>
                <a:off x="6591791" y="3146148"/>
                <a:ext cx="4762009" cy="2669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GB" sz="1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d>
                          <m:d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p>
                    </m:sSup>
                    <m:d>
                      <m:d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𝑷𝑺</m:t>
                        </m:r>
                        <m:sSup>
                          <m:sSupPr>
                            <m:ctrlPr>
                              <a:rPr lang="en-GB" sz="16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600" b="1" i="1">
                                <a:latin typeface="Cambria Math" panose="02040503050406030204" pitchFamily="18" charset="0"/>
                              </a:rPr>
                              <m:t>𝑭</m:t>
                            </m:r>
                          </m:e>
                          <m:sup>
                            <m:r>
                              <a:rPr lang="en-GB" sz="16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d>
                          <m:d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GB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en-GB" sz="1600" i="1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GB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GB" sz="1600" i="0">
                                <a:latin typeface="Cambria Math" panose="02040503050406030204" pitchFamily="18" charset="0"/>
                              </a:rPr>
                              <m:t>Δ</m:t>
                            </m:r>
                            <m:sSub>
                              <m:sSubPr>
                                <m:ctrlPr>
                                  <a:rPr lang="en-GB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GB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m:rPr>
                                <m:sty m:val="p"/>
                              </m:rPr>
                              <a:rPr lang="en-GB" sz="1600" i="0" smtClean="0">
                                <a:latin typeface="Cambria Math" panose="02040503050406030204" pitchFamily="18" charset="0"/>
                              </a:rPr>
                              <m:t>Δ</m:t>
                            </m:r>
                            <m:sSub>
                              <m:sSubPr>
                                <m:ctrlPr>
                                  <a:rPr lang="en-GB" sz="16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160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GB" sz="160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GB" sz="160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sz="160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GB" sz="160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GB" sz="1600" i="1" smtClean="0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GB" sz="16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GB" sz="16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E072376-9F1D-931B-F0E9-5F7936D638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1791" y="3146148"/>
                <a:ext cx="4762009" cy="266933"/>
              </a:xfrm>
              <a:prstGeom prst="rect">
                <a:avLst/>
              </a:prstGeom>
              <a:blipFill>
                <a:blip r:embed="rId4"/>
                <a:stretch>
                  <a:fillRect l="-2430" t="-145455" b="-2340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B55DEC4F-2F99-9CB3-EACB-B418ED3AA67C}"/>
                  </a:ext>
                </a:extLst>
              </p:cNvPr>
              <p:cNvSpPr/>
              <p:nvPr/>
            </p:nvSpPr>
            <p:spPr>
              <a:xfrm>
                <a:off x="6348752" y="4469761"/>
                <a:ext cx="5226099" cy="619434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IT" sz="2000" noProof="0" dirty="0"/>
                  <a:t>È atteso un guadagno di un fattore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it-IT" sz="20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endParaRPr lang="it-IT" sz="2000" noProof="0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B55DEC4F-2F99-9CB3-EACB-B418ED3AA6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8752" y="4469761"/>
                <a:ext cx="5226099" cy="619434"/>
              </a:xfrm>
              <a:prstGeom prst="rect">
                <a:avLst/>
              </a:prstGeom>
              <a:blipFill>
                <a:blip r:embed="rId5"/>
                <a:stretch>
                  <a:fillRect b="-9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9467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8EFD9-AFBF-46C6-9621-95894D441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516" y="534927"/>
            <a:ext cx="7069393" cy="630817"/>
          </a:xfrm>
        </p:spPr>
        <p:txBody>
          <a:bodyPr>
            <a:normAutofit fontScale="90000"/>
          </a:bodyPr>
          <a:lstStyle/>
          <a:p>
            <a:r>
              <a:rPr lang="it-IT" noProof="0" dirty="0"/>
              <a:t>Image Scanning Microscopy (ISM)</a:t>
            </a:r>
          </a:p>
        </p:txBody>
      </p:sp>
      <p:pic>
        <p:nvPicPr>
          <p:cNvPr id="6" name="Content Placeholder 5" descr="Diagram of a laser beam&#10;&#10;AI-generated content may be incorrect.">
            <a:extLst>
              <a:ext uri="{FF2B5EF4-FFF2-40B4-BE49-F238E27FC236}">
                <a16:creationId xmlns:a16="http://schemas.microsoft.com/office/drawing/2014/main" id="{ACC7C3C2-4FE1-449A-1C53-B9F096FF3B9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7665" y="1165744"/>
            <a:ext cx="5039536" cy="5272387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019A3DB-76E5-08AD-DED4-115C76E97E54}"/>
              </a:ext>
            </a:extLst>
          </p:cNvPr>
          <p:cNvSpPr txBox="1"/>
          <p:nvPr/>
        </p:nvSpPr>
        <p:spPr>
          <a:xfrm>
            <a:off x="389516" y="1885661"/>
            <a:ext cx="67904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/>
              <a:t>Il setup per l’</a:t>
            </a:r>
            <a:r>
              <a:rPr lang="it-IT" sz="2000" noProof="0" dirty="0"/>
              <a:t>ISM </a:t>
            </a:r>
            <a:r>
              <a:rPr lang="it-IT" sz="2000" dirty="0"/>
              <a:t>prevede un rivelatore a </a:t>
            </a:r>
            <a:r>
              <a:rPr lang="it-IT" sz="2000" b="1" dirty="0"/>
              <a:t>matrice SPAD</a:t>
            </a:r>
            <a:r>
              <a:rPr lang="it-IT" sz="2000" noProof="0" dirty="0"/>
              <a:t> posto nel piano del </a:t>
            </a:r>
            <a:r>
              <a:rPr lang="it-IT" sz="2000" noProof="0" dirty="0" err="1"/>
              <a:t>pinhole</a:t>
            </a:r>
            <a:endParaRPr lang="it-IT" sz="2000" b="1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8C4AF09-4B05-C084-A0C1-69C48D9384D6}"/>
                  </a:ext>
                </a:extLst>
              </p:cNvPr>
              <p:cNvSpPr txBox="1"/>
              <p:nvPr/>
            </p:nvSpPr>
            <p:spPr>
              <a:xfrm>
                <a:off x="389516" y="2995679"/>
                <a:ext cx="6431667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2000" noProof="0" dirty="0"/>
                  <a:t>Ogni rivelatore agisce come pinhole chiuso (0.2 airy), </a:t>
                </a:r>
              </a:p>
              <a:p>
                <a:r>
                  <a:rPr lang="it-IT" sz="2000" dirty="0"/>
                  <a:t>i</a:t>
                </a:r>
                <a:r>
                  <a:rPr lang="it-IT" sz="2000" noProof="0" dirty="0"/>
                  <a:t>n tal modo si ottengono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b="1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1" i="1" noProof="0" smtClean="0">
                            <a:latin typeface="Cambria Math" panose="02040503050406030204" pitchFamily="18" charset="0"/>
                          </a:rPr>
                          <m:t>𝑵</m:t>
                        </m:r>
                      </m:e>
                      <m:sub>
                        <m:r>
                          <a:rPr lang="en-GB" sz="2000" b="1" i="1" noProof="0" smtClean="0">
                            <a:latin typeface="Cambria Math" panose="02040503050406030204" pitchFamily="18" charset="0"/>
                          </a:rPr>
                          <m:t>𝑺𝑷𝑨𝑫</m:t>
                        </m:r>
                      </m:sub>
                    </m:sSub>
                  </m:oMath>
                </a14:m>
                <a:r>
                  <a:rPr lang="it-IT" sz="2000" b="1" noProof="0" dirty="0"/>
                  <a:t> immagini a bassa intensità e alta risoluzione</a:t>
                </a:r>
              </a:p>
              <a:p>
                <a:endParaRPr lang="it-IT" noProof="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8C4AF09-4B05-C084-A0C1-69C48D9384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516" y="2995679"/>
                <a:ext cx="6431667" cy="1292662"/>
              </a:xfrm>
              <a:prstGeom prst="rect">
                <a:avLst/>
              </a:prstGeom>
              <a:blipFill>
                <a:blip r:embed="rId3"/>
                <a:stretch>
                  <a:fillRect l="-1043" t="-235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563FCD5B-5FEC-1B59-5536-76FD69034D78}"/>
              </a:ext>
            </a:extLst>
          </p:cNvPr>
          <p:cNvSpPr txBox="1"/>
          <p:nvPr/>
        </p:nvSpPr>
        <p:spPr>
          <a:xfrm>
            <a:off x="389516" y="4620227"/>
            <a:ext cx="65581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noProof="0" dirty="0"/>
              <a:t>Le immagini vengono ricombinate applicando shift stimati con </a:t>
            </a:r>
            <a:r>
              <a:rPr lang="it-IT" sz="2000" b="1" noProof="0" dirty="0"/>
              <a:t>APR</a:t>
            </a:r>
            <a:r>
              <a:rPr lang="it-IT" sz="2000" noProof="0" dirty="0"/>
              <a:t> per massimizzare la sovrapposizione</a:t>
            </a:r>
          </a:p>
        </p:txBody>
      </p:sp>
    </p:spTree>
    <p:extLst>
      <p:ext uri="{BB962C8B-B14F-4D97-AF65-F5344CB8AC3E}">
        <p14:creationId xmlns:p14="http://schemas.microsoft.com/office/powerpoint/2010/main" val="1658240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3E72FA3-BD00-444A-AD9B-E6C3D069CD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5D80A0-E5C6-811E-1BB5-ED53F02EC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9262" y="684227"/>
            <a:ext cx="3613475" cy="603205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it-IT" sz="4000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Matrice SPAD</a:t>
            </a:r>
          </a:p>
        </p:txBody>
      </p:sp>
      <p:pic>
        <p:nvPicPr>
          <p:cNvPr id="10" name="Picture 9" descr="A red square with black numbers and a green square&#10;&#10;AI-generated content may be incorrect.">
            <a:extLst>
              <a:ext uri="{FF2B5EF4-FFF2-40B4-BE49-F238E27FC236}">
                <a16:creationId xmlns:a16="http://schemas.microsoft.com/office/drawing/2014/main" id="{C4FD0253-5B65-241B-B932-84C23E6E94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2823" y="4125864"/>
            <a:ext cx="2230486" cy="2230486"/>
          </a:xfrm>
          <a:prstGeom prst="rect">
            <a:avLst/>
          </a:prstGeom>
        </p:spPr>
      </p:pic>
      <p:pic>
        <p:nvPicPr>
          <p:cNvPr id="12" name="Picture 11" descr="A grid of numbers with red and green squares&#10;&#10;AI-generated content may be incorrect.">
            <a:extLst>
              <a:ext uri="{FF2B5EF4-FFF2-40B4-BE49-F238E27FC236}">
                <a16:creationId xmlns:a16="http://schemas.microsoft.com/office/drawing/2014/main" id="{7F2B7A75-C06B-6D26-6DF3-D1B56FFB46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943" y="4125864"/>
            <a:ext cx="2230486" cy="2230486"/>
          </a:xfrm>
          <a:prstGeom prst="rect">
            <a:avLst/>
          </a:prstGeom>
        </p:spPr>
      </p:pic>
      <p:pic>
        <p:nvPicPr>
          <p:cNvPr id="14" name="Picture 13" descr="A grid of numbers with red squares&#10;&#10;AI-generated content may be incorrect.">
            <a:extLst>
              <a:ext uri="{FF2B5EF4-FFF2-40B4-BE49-F238E27FC236}">
                <a16:creationId xmlns:a16="http://schemas.microsoft.com/office/drawing/2014/main" id="{3406262F-08BF-5CA3-84F0-25ACE631A0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9413" y="4125864"/>
            <a:ext cx="2230486" cy="2230486"/>
          </a:xfrm>
          <a:prstGeom prst="rect">
            <a:avLst/>
          </a:prstGeom>
        </p:spPr>
      </p:pic>
      <p:pic>
        <p:nvPicPr>
          <p:cNvPr id="6" name="Content Placeholder 5" descr="A red square with black squares and green squares&#10;&#10;AI-generated content may be incorrect.">
            <a:extLst>
              <a:ext uri="{FF2B5EF4-FFF2-40B4-BE49-F238E27FC236}">
                <a16:creationId xmlns:a16="http://schemas.microsoft.com/office/drawing/2014/main" id="{B69165C3-FF94-E8E7-A1F5-824EA098760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3883" y="4110769"/>
            <a:ext cx="2230486" cy="2230486"/>
          </a:xfrm>
          <a:prstGeom prst="rect">
            <a:avLst/>
          </a:prstGeom>
        </p:spPr>
      </p:pic>
      <p:pic>
        <p:nvPicPr>
          <p:cNvPr id="8" name="Content Placeholder 7" descr="A red square with green squares&#10;&#10;AI-generated content may be incorrect.">
            <a:extLst>
              <a:ext uri="{FF2B5EF4-FFF2-40B4-BE49-F238E27FC236}">
                <a16:creationId xmlns:a16="http://schemas.microsoft.com/office/drawing/2014/main" id="{48105736-EA02-764E-2A62-998AA8277CF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8353" y="4125864"/>
            <a:ext cx="2230486" cy="2230486"/>
          </a:xfrm>
          <a:prstGeom prst="rect">
            <a:avLst/>
          </a:prstGeom>
        </p:spPr>
      </p:pic>
      <p:pic>
        <p:nvPicPr>
          <p:cNvPr id="16" name="Picture 15" descr="A diagram of a square with a red line&#10;&#10;AI-generated content may be incorrect.">
            <a:extLst>
              <a:ext uri="{FF2B5EF4-FFF2-40B4-BE49-F238E27FC236}">
                <a16:creationId xmlns:a16="http://schemas.microsoft.com/office/drawing/2014/main" id="{480533F3-5CA7-F966-7A05-7BB8FDB354B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336" y="73608"/>
            <a:ext cx="3712140" cy="336348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6C91E9C-0273-032F-8223-14EBF1A340F4}"/>
              </a:ext>
            </a:extLst>
          </p:cNvPr>
          <p:cNvSpPr txBox="1"/>
          <p:nvPr/>
        </p:nvSpPr>
        <p:spPr>
          <a:xfrm>
            <a:off x="1096789" y="3776034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noProof="0" dirty="0"/>
              <a:t>D0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AFFF7B-BBC3-BDB0-2CA6-DA3F96150215}"/>
              </a:ext>
            </a:extLst>
          </p:cNvPr>
          <p:cNvSpPr txBox="1"/>
          <p:nvPr/>
        </p:nvSpPr>
        <p:spPr>
          <a:xfrm>
            <a:off x="3481259" y="3810550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noProof="0" dirty="0"/>
              <a:t>D1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08D489-779B-A83C-0E25-71C06CC5FA3B}"/>
              </a:ext>
            </a:extLst>
          </p:cNvPr>
          <p:cNvSpPr txBox="1"/>
          <p:nvPr/>
        </p:nvSpPr>
        <p:spPr>
          <a:xfrm>
            <a:off x="5865729" y="3766178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noProof="0" dirty="0"/>
              <a:t>D3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6D6BB47-2699-99A5-58E3-F11845314ABC}"/>
              </a:ext>
            </a:extLst>
          </p:cNvPr>
          <p:cNvSpPr txBox="1"/>
          <p:nvPr/>
        </p:nvSpPr>
        <p:spPr>
          <a:xfrm>
            <a:off x="8250199" y="3766178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noProof="0" dirty="0"/>
              <a:t>D5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943D3F0-D8C6-BD34-C363-20901B89ECAD}"/>
              </a:ext>
            </a:extLst>
          </p:cNvPr>
          <p:cNvSpPr txBox="1"/>
          <p:nvPr/>
        </p:nvSpPr>
        <p:spPr>
          <a:xfrm>
            <a:off x="10634669" y="3766178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noProof="0" dirty="0"/>
              <a:t>D7</a:t>
            </a:r>
          </a:p>
        </p:txBody>
      </p:sp>
      <p:pic>
        <p:nvPicPr>
          <p:cNvPr id="25" name="Picture 24" descr="A red and yellow squares with numbers&#10;&#10;AI-generated content may be incorrect.">
            <a:extLst>
              <a:ext uri="{FF2B5EF4-FFF2-40B4-BE49-F238E27FC236}">
                <a16:creationId xmlns:a16="http://schemas.microsoft.com/office/drawing/2014/main" id="{0DBA3CC2-DA5C-B4CA-488E-5EB8273A729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77" r="1" b="9579"/>
          <a:stretch>
            <a:fillRect/>
          </a:stretch>
        </p:blipFill>
        <p:spPr>
          <a:xfrm>
            <a:off x="8697279" y="178936"/>
            <a:ext cx="3482585" cy="2710945"/>
          </a:xfrm>
          <a:prstGeom prst="rect">
            <a:avLst/>
          </a:prstGeom>
        </p:spPr>
      </p:pic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5D78F3E-A026-D7C6-557C-5E729844168D}"/>
              </a:ext>
            </a:extLst>
          </p:cNvPr>
          <p:cNvCxnSpPr>
            <a:cxnSpLocks/>
          </p:cNvCxnSpPr>
          <p:nvPr/>
        </p:nvCxnSpPr>
        <p:spPr>
          <a:xfrm flipH="1">
            <a:off x="3858141" y="985829"/>
            <a:ext cx="6413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Title 1">
            <a:extLst>
              <a:ext uri="{FF2B5EF4-FFF2-40B4-BE49-F238E27FC236}">
                <a16:creationId xmlns:a16="http://schemas.microsoft.com/office/drawing/2014/main" id="{E48344C1-9945-195F-146A-90DC1FDE992C}"/>
              </a:ext>
            </a:extLst>
          </p:cNvPr>
          <p:cNvSpPr txBox="1">
            <a:spLocks/>
          </p:cNvSpPr>
          <p:nvPr/>
        </p:nvSpPr>
        <p:spPr>
          <a:xfrm>
            <a:off x="4829899" y="1627782"/>
            <a:ext cx="2472075" cy="7625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4000" noProof="0" dirty="0"/>
              <a:t>Fingerprint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2E4D4A9-7E2C-5AAF-20A1-18F4D56FE795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7301974" y="2009043"/>
            <a:ext cx="86597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Title 1">
            <a:extLst>
              <a:ext uri="{FF2B5EF4-FFF2-40B4-BE49-F238E27FC236}">
                <a16:creationId xmlns:a16="http://schemas.microsoft.com/office/drawing/2014/main" id="{5AFDFF5A-04A5-B2BA-FE39-601EEACB08BA}"/>
              </a:ext>
            </a:extLst>
          </p:cNvPr>
          <p:cNvSpPr txBox="1">
            <a:spLocks/>
          </p:cNvSpPr>
          <p:nvPr/>
        </p:nvSpPr>
        <p:spPr>
          <a:xfrm>
            <a:off x="3803798" y="2698580"/>
            <a:ext cx="4581354" cy="76252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4000" noProof="0" dirty="0"/>
              <a:t>Sotto elementi SPAD</a:t>
            </a:r>
          </a:p>
        </p:txBody>
      </p:sp>
      <p:sp>
        <p:nvSpPr>
          <p:cNvPr id="38" name="Slide Number Placeholder 37">
            <a:extLst>
              <a:ext uri="{FF2B5EF4-FFF2-40B4-BE49-F238E27FC236}">
                <a16:creationId xmlns:a16="http://schemas.microsoft.com/office/drawing/2014/main" id="{FF00BF38-2441-5555-3532-2CBFF5585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DC76A-8DF0-41FB-8A8C-1F8E409CC644}" type="slidenum">
              <a:rPr lang="en-GB" smtClean="0"/>
              <a:t>6</a:t>
            </a:fld>
            <a:endParaRPr lang="en-GB" dirty="0"/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2E21766E-3810-7222-0FE8-777CD8AD5E60}"/>
              </a:ext>
            </a:extLst>
          </p:cNvPr>
          <p:cNvSpPr/>
          <p:nvPr/>
        </p:nvSpPr>
        <p:spPr>
          <a:xfrm rot="16200000">
            <a:off x="5750090" y="-2255630"/>
            <a:ext cx="688770" cy="11958324"/>
          </a:xfrm>
          <a:prstGeom prst="rightBrace">
            <a:avLst>
              <a:gd name="adj1" fmla="val 123277"/>
              <a:gd name="adj2" fmla="val 49244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4943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5CFB2BE-6784-C174-5E4E-7D3B1B276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DC76A-8DF0-41FB-8A8C-1F8E409CC644}" type="slidenum">
              <a:rPr lang="en-GB" smtClean="0"/>
              <a:t>7</a:t>
            </a:fld>
            <a:endParaRPr lang="en-GB" dirty="0"/>
          </a:p>
        </p:txBody>
      </p:sp>
      <p:pic>
        <p:nvPicPr>
          <p:cNvPr id="12" name="Content Placeholder 11" descr="A diagram of a normal distribution&#10;&#10;AI-generated content may be incorrect.">
            <a:extLst>
              <a:ext uri="{FF2B5EF4-FFF2-40B4-BE49-F238E27FC236}">
                <a16:creationId xmlns:a16="http://schemas.microsoft.com/office/drawing/2014/main" id="{E6F59DC2-6308-26AB-DB84-352625DAE6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201" y="1135175"/>
            <a:ext cx="5317966" cy="3721696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6E935271-B043-AE67-F368-E3F400AAC536}"/>
              </a:ext>
            </a:extLst>
          </p:cNvPr>
          <p:cNvGrpSpPr/>
          <p:nvPr/>
        </p:nvGrpSpPr>
        <p:grpSpPr>
          <a:xfrm>
            <a:off x="5764967" y="945033"/>
            <a:ext cx="5996065" cy="3111537"/>
            <a:chOff x="5612566" y="1359567"/>
            <a:chExt cx="5996065" cy="31115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2581FE7E-BB2F-3DB6-2528-0B4FD453FC98}"/>
                    </a:ext>
                  </a:extLst>
                </p:cNvPr>
                <p:cNvSpPr txBox="1"/>
                <p:nvPr/>
              </p:nvSpPr>
              <p:spPr>
                <a:xfrm>
                  <a:off x="6932448" y="1359567"/>
                  <a:ext cx="3356303" cy="105221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it-IT" sz="2400" b="0" i="1" noProof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it-IT" sz="2400" b="0" i="1" noProof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PSF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it-IT" sz="2400" b="0" i="1" noProof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exc</m:t>
                            </m:r>
                          </m:sub>
                        </m:sSub>
                        <m:d>
                          <m:dPr>
                            <m:ctrlPr>
                              <a:rPr lang="it-IT" sz="2400" b="0" i="1" noProof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sz="2400" b="0" i="1" noProof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it-IT" sz="2400" b="0" i="1" noProof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it-IT" sz="2400" b="0" i="1" noProof="0" smtClean="0">
                                    <a:solidFill>
                                      <a:schemeClr val="tx2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it-IT" sz="2400" b="0" i="1" noProof="0" smtClean="0">
                                    <a:solidFill>
                                      <a:schemeClr val="tx2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it-IT" sz="2400" b="0" i="1" noProof="0" smtClean="0">
                                    <a:solidFill>
                                      <a:schemeClr val="tx2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exc</m:t>
                                </m:r>
                              </m:sub>
                            </m:sSub>
                          </m:e>
                        </m:d>
                        <m:r>
                          <a:rPr lang="it-IT" sz="2400" b="0" i="1" noProof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∝</m:t>
                        </m:r>
                        <m:sSup>
                          <m:sSupPr>
                            <m:ctrlPr>
                              <a:rPr lang="it-IT" sz="2400" b="0" i="1" noProof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sz="2400" b="0" i="1" noProof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it-IT" sz="2400" b="0" i="1" noProof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box>
                              <m:boxPr>
                                <m:ctrlPr>
                                  <a:rPr lang="it-IT" sz="2400" b="0" i="1" noProof="0" smtClean="0">
                                    <a:solidFill>
                                      <a:schemeClr val="tx2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boxPr>
                              <m:e>
                                <m:argPr>
                                  <m:argSz m:val="-1"/>
                                </m:argPr>
                                <m:f>
                                  <m:fPr>
                                    <m:ctrlPr>
                                      <a:rPr lang="it-IT" sz="2400" b="0" i="1" noProof="0" smtClean="0">
                                        <a:solidFill>
                                          <a:schemeClr val="tx2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it-IT" sz="2400" b="0" i="1" noProof="0" smtClean="0">
                                            <a:solidFill>
                                              <a:schemeClr val="tx2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it-IT" sz="2400" b="0" i="1" noProof="0" smtClean="0">
                                            <a:solidFill>
                                              <a:schemeClr val="tx2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x</m:t>
                                        </m:r>
                                      </m:e>
                                      <m:sup>
                                        <m:r>
                                          <a:rPr lang="it-IT" sz="2400" b="0" i="1" noProof="0" smtClean="0">
                                            <a:solidFill>
                                              <a:schemeClr val="tx2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it-IT" sz="2400" b="0" i="1" noProof="0" smtClean="0">
                                        <a:solidFill>
                                          <a:schemeClr val="tx2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sSubSup>
                                      <m:sSubSupPr>
                                        <m:ctrlPr>
                                          <a:rPr lang="it-IT" sz="2400" b="0" i="1" noProof="0" smtClean="0">
                                            <a:solidFill>
                                              <a:schemeClr val="tx2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it-IT" sz="2400" b="0" i="1" noProof="0" smtClean="0">
                                            <a:solidFill>
                                              <a:schemeClr val="tx2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σ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it-IT" sz="2400" b="0" i="1" noProof="0" smtClean="0">
                                            <a:solidFill>
                                              <a:schemeClr val="tx2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exc</m:t>
                                        </m:r>
                                      </m:sub>
                                      <m:sup>
                                        <m:r>
                                          <a:rPr lang="it-IT" sz="2400" b="0" i="1" noProof="0" smtClean="0">
                                            <a:solidFill>
                                              <a:schemeClr val="tx2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den>
                                </m:f>
                              </m:e>
                            </m:box>
                          </m:sup>
                        </m:sSup>
                      </m:oMath>
                    </m:oMathPara>
                  </a14:m>
                  <a:endParaRPr lang="it-IT" sz="2400" b="0" noProof="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</a:endParaRPr>
                </a:p>
                <a:p>
                  <a:endParaRPr lang="it-IT" sz="2400" b="0" noProof="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2581FE7E-BB2F-3DB6-2528-0B4FD453FC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32448" y="1359567"/>
                  <a:ext cx="3356303" cy="105221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B22D28FE-4FFC-8ABB-E1F3-DFE26744E889}"/>
                    </a:ext>
                  </a:extLst>
                </p:cNvPr>
                <p:cNvSpPr txBox="1"/>
                <p:nvPr/>
              </p:nvSpPr>
              <p:spPr>
                <a:xfrm>
                  <a:off x="6851816" y="2395395"/>
                  <a:ext cx="3517566" cy="10849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it-IT" sz="2400" b="0" i="1" noProof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it-IT" sz="2400" b="0" i="1" noProof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PSF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it-IT" sz="2400" b="0" i="1" noProof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det</m:t>
                            </m:r>
                          </m:sub>
                        </m:sSub>
                        <m:d>
                          <m:dPr>
                            <m:ctrlPr>
                              <a:rPr lang="it-IT" sz="2400" b="0" i="1" noProof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sz="2400" b="0" i="1" noProof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it-IT" sz="2400" b="0" i="1" noProof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it-IT" sz="2400" b="0" i="1" noProof="0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it-IT" sz="2400" b="0" i="1" noProof="0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it-IT" sz="2400" b="0" i="1" noProof="0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det</m:t>
                                </m:r>
                              </m:sub>
                            </m:sSub>
                          </m:e>
                        </m:d>
                        <m:r>
                          <a:rPr lang="it-IT" sz="2400" b="0" i="1" noProof="0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∝</m:t>
                        </m:r>
                        <m:sSup>
                          <m:sSupPr>
                            <m:ctrlPr>
                              <a:rPr lang="it-IT" sz="2400" b="0" i="1" noProof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sz="2400" b="0" i="1" noProof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it-IT" sz="2400" b="0" i="1" noProof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box>
                              <m:boxPr>
                                <m:ctrlPr>
                                  <a:rPr lang="it-IT" sz="2400" b="0" i="1" noProof="0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boxPr>
                              <m:e>
                                <m:argPr>
                                  <m:argSz m:val="-1"/>
                                </m:argPr>
                                <m:f>
                                  <m:fPr>
                                    <m:ctrlPr>
                                      <a:rPr lang="it-IT" sz="2400" b="0" i="1" noProof="0" smtClean="0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it-IT" sz="2400" b="0" i="1" noProof="0" smtClean="0">
                                            <a:solidFill>
                                              <a:schemeClr val="accent2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it-IT" sz="2400" b="0" i="1" noProof="0" smtClean="0">
                                            <a:solidFill>
                                              <a:schemeClr val="accent2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it-IT" sz="2400" b="0" i="1" noProof="0" smtClean="0">
                                            <a:solidFill>
                                              <a:schemeClr val="accent2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x</m:t>
                                        </m:r>
                                        <m:r>
                                          <a:rPr lang="it-IT" sz="2400" b="0" i="1" noProof="0" smtClean="0">
                                            <a:solidFill>
                                              <a:schemeClr val="accent2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it-IT" sz="2400" b="0" i="1" noProof="0" smtClean="0">
                                            <a:solidFill>
                                              <a:schemeClr val="accent2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d</m:t>
                                        </m:r>
                                        <m:r>
                                          <a:rPr lang="it-IT" sz="2400" b="0" i="1" noProof="0" smtClean="0">
                                            <a:solidFill>
                                              <a:schemeClr val="accent2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  <m:sup>
                                        <m:r>
                                          <a:rPr lang="it-IT" sz="2400" b="0" i="1" noProof="0" smtClean="0">
                                            <a:solidFill>
                                              <a:schemeClr val="accent2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it-IT" sz="2400" b="0" i="1" noProof="0" smtClean="0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sSubSup>
                                      <m:sSubSupPr>
                                        <m:ctrlPr>
                                          <a:rPr lang="it-IT" sz="2400" b="0" i="1" noProof="0" smtClean="0">
                                            <a:solidFill>
                                              <a:schemeClr val="accent2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it-IT" sz="2400" b="0" i="1" noProof="0" smtClean="0">
                                            <a:solidFill>
                                              <a:schemeClr val="accent2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σ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it-IT" sz="2400" b="0" i="1" noProof="0" smtClean="0">
                                            <a:solidFill>
                                              <a:schemeClr val="accent2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det</m:t>
                                        </m:r>
                                      </m:sub>
                                      <m:sup>
                                        <m:r>
                                          <a:rPr lang="it-IT" sz="2400" b="0" i="1" noProof="0" smtClean="0">
                                            <a:solidFill>
                                              <a:schemeClr val="accent2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den>
                                </m:f>
                              </m:e>
                            </m:box>
                          </m:sup>
                        </m:sSup>
                      </m:oMath>
                    </m:oMathPara>
                  </a14:m>
                  <a:endParaRPr lang="it-IT" sz="2400" b="0" noProof="0" dirty="0">
                    <a:solidFill>
                      <a:schemeClr val="accent2">
                        <a:lumMod val="75000"/>
                      </a:schemeClr>
                    </a:solidFill>
                  </a:endParaRPr>
                </a:p>
                <a:p>
                  <a:endParaRPr lang="it-IT" sz="2400" b="0" noProof="0" dirty="0">
                    <a:solidFill>
                      <a:schemeClr val="accent2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B22D28FE-4FFC-8ABB-E1F3-DFE26744E8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51816" y="2395395"/>
                  <a:ext cx="3517566" cy="108497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BEE43446-1045-35DD-BED6-12E11BBE4937}"/>
                    </a:ext>
                  </a:extLst>
                </p:cNvPr>
                <p:cNvSpPr txBox="1"/>
                <p:nvPr/>
              </p:nvSpPr>
              <p:spPr>
                <a:xfrm>
                  <a:off x="5612566" y="3410557"/>
                  <a:ext cx="5996065" cy="106054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it-IT" sz="2400" b="0" i="1" noProof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it-IT" sz="2400" b="0" i="1" noProof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PSF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it-IT" sz="2400" b="0" i="1" noProof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ISM</m:t>
                          </m:r>
                        </m:sub>
                      </m:sSub>
                      <m:d>
                        <m:dPr>
                          <m:ctrlPr>
                            <a:rPr lang="it-IT" sz="2400" b="0" i="1" noProof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2400" b="0" i="1" noProof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it-IT" sz="2400" b="0" i="1" noProof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it-IT" sz="2400" b="0" i="1" noProof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it-IT" sz="2400" b="0" i="1" noProof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it-IT" sz="2400" b="0" i="1" noProof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ISM</m:t>
                              </m:r>
                            </m:sub>
                          </m:sSub>
                        </m:e>
                      </m:d>
                      <m:r>
                        <a:rPr lang="it-IT" sz="2400" b="0" i="1" noProof="0" smtClean="0">
                          <a:latin typeface="Cambria Math" panose="02040503050406030204" pitchFamily="18" charset="0"/>
                        </a:rPr>
                        <m:t>∝</m:t>
                      </m:r>
                      <m:sSup>
                        <m:sSupPr>
                          <m:ctrlPr>
                            <a:rPr lang="it-IT" sz="2400" b="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it-IT" sz="2400" b="0" i="1" noProof="0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it-IT" sz="2400" b="0" i="1" noProof="0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it-IT" sz="2400" b="0" i="1" noProof="0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box>
                                <m:boxPr>
                                  <m:ctrlPr>
                                    <a:rPr lang="it-IT" sz="2400" b="0" i="1" noProof="0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oxPr>
                                <m:e>
                                  <m:argPr>
                                    <m:argSz m:val="-1"/>
                                  </m:argPr>
                                  <m:f>
                                    <m:fPr>
                                      <m:ctrlPr>
                                        <a:rPr lang="it-IT" sz="2400" b="0" i="1" noProof="0" smtClean="0">
                                          <a:solidFill>
                                            <a:schemeClr val="tx2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it-IT" sz="2400" b="0" i="1" noProof="0" smtClean="0">
                                              <a:solidFill>
                                                <a:schemeClr val="tx2">
                                                  <a:lumMod val="75000"/>
                                                  <a:lumOff val="2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it-IT" sz="2400" b="0" i="1" noProof="0" smtClean="0">
                                              <a:solidFill>
                                                <a:schemeClr val="tx2">
                                                  <a:lumMod val="75000"/>
                                                  <a:lumOff val="2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x</m:t>
                                          </m:r>
                                        </m:e>
                                        <m:sup>
                                          <m:r>
                                            <a:rPr lang="it-IT" sz="2400" b="0" i="1" noProof="0" smtClean="0">
                                              <a:solidFill>
                                                <a:schemeClr val="tx2">
                                                  <a:lumMod val="75000"/>
                                                  <a:lumOff val="2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r>
                                        <a:rPr lang="it-IT" sz="2400" b="0" i="1" noProof="0" smtClean="0">
                                          <a:solidFill>
                                            <a:schemeClr val="tx2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sSubSup>
                                        <m:sSubSupPr>
                                          <m:ctrlPr>
                                            <a:rPr lang="it-IT" sz="2400" b="0" i="1" noProof="0" smtClean="0">
                                              <a:solidFill>
                                                <a:schemeClr val="tx2">
                                                  <a:lumMod val="75000"/>
                                                  <a:lumOff val="2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it-IT" sz="2400" b="0" i="1" noProof="0" smtClean="0">
                                              <a:solidFill>
                                                <a:schemeClr val="tx2">
                                                  <a:lumMod val="75000"/>
                                                  <a:lumOff val="2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σ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it-IT" sz="2400" b="0" i="1" noProof="0" smtClean="0">
                                              <a:solidFill>
                                                <a:schemeClr val="tx2">
                                                  <a:lumMod val="75000"/>
                                                  <a:lumOff val="2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exc</m:t>
                                          </m:r>
                                        </m:sub>
                                        <m:sup>
                                          <m:r>
                                            <a:rPr lang="it-IT" sz="2400" b="0" i="1" noProof="0" smtClean="0">
                                              <a:solidFill>
                                                <a:schemeClr val="tx2">
                                                  <a:lumMod val="75000"/>
                                                  <a:lumOff val="2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den>
                                  </m:f>
                                </m:e>
                              </m:box>
                            </m:sup>
                          </m:sSup>
                          <m:r>
                            <a:rPr lang="it-IT" sz="2400" b="0" i="1" noProof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it-IT" sz="24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it-IT" sz="2400" b="0" i="1" noProof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it-IT" sz="2400" b="0" i="1" noProof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box>
                            <m:boxPr>
                              <m:ctrlPr>
                                <a:rPr lang="it-IT" sz="2400" b="0" i="1" noProof="0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it-IT" sz="2400" b="0" i="1" noProof="0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it-IT" sz="2400" b="0" i="1" noProof="0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it-IT" sz="2400" b="0" i="1" noProof="0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it-IT" sz="2400" b="0" i="1" noProof="0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x</m:t>
                                      </m:r>
                                      <m:r>
                                        <a:rPr lang="it-IT" sz="2400" b="0" i="1" noProof="0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it-IT" sz="2400" b="0" i="1" noProof="0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  <m:r>
                                        <a:rPr lang="it-IT" sz="2400" b="0" i="1" noProof="0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it-IT" sz="2400" b="0" i="1" noProof="0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it-IT" sz="2400" b="0" i="1" noProof="0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bSup>
                                    <m:sSubSupPr>
                                      <m:ctrlPr>
                                        <a:rPr lang="it-IT" sz="2400" b="0" i="1" noProof="0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it-IT" sz="2400" b="0" i="1" noProof="0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σ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it-IT" sz="2400" b="0" i="1" noProof="0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det</m:t>
                                      </m:r>
                                    </m:sub>
                                    <m:sup>
                                      <m:r>
                                        <a:rPr lang="it-IT" sz="2400" b="0" i="1" noProof="0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den>
                              </m:f>
                            </m:e>
                          </m:box>
                        </m:sup>
                      </m:sSup>
                    </m:oMath>
                  </a14:m>
                  <a:r>
                    <a:rPr lang="it-IT" sz="2400" b="0" noProof="0" dirty="0"/>
                    <a:t> </a:t>
                  </a:r>
                  <a14:m>
                    <m:oMath xmlns:m="http://schemas.openxmlformats.org/officeDocument/2006/math">
                      <m:r>
                        <a:rPr lang="it-IT" sz="2400" b="0" i="1" noProof="0" smtClean="0">
                          <a:latin typeface="Cambria Math" panose="02040503050406030204" pitchFamily="18" charset="0"/>
                        </a:rPr>
                        <m:t>∝</m:t>
                      </m:r>
                      <m:sSup>
                        <m:sSupPr>
                          <m:ctrlPr>
                            <a:rPr lang="it-IT" sz="2400" b="0" i="1" noProof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2400" b="0" i="1" noProof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it-IT" sz="2400" b="0" i="1" noProof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box>
                            <m:boxPr>
                              <m:ctrlPr>
                                <a:rPr lang="it-IT" sz="2400" b="0" i="1" noProof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it-IT" sz="2400" b="0" i="1" noProof="0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it-IT" sz="2400" b="0" i="1" noProof="0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it-IT" sz="2400" b="0" i="1" noProof="0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it-IT" sz="2400" b="0" i="1" noProof="0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x</m:t>
                                      </m:r>
                                      <m:r>
                                        <a:rPr lang="it-IT" sz="2400" b="0" i="1" noProof="0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it-IT" sz="2400" b="0" i="1" noProof="0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p</m:t>
                                      </m:r>
                                      <m:r>
                                        <a:rPr lang="it-IT" sz="2400" b="0" i="1" noProof="0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it-IT" sz="2400" b="0" i="1" noProof="0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it-IT" sz="2400" b="0" i="1" noProof="0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bSup>
                                    <m:sSubSupPr>
                                      <m:ctrlPr>
                                        <a:rPr lang="it-IT" sz="2400" b="0" i="1" noProof="0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it-IT" sz="2400" b="0" i="1" noProof="0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σ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it-IT" sz="2400" b="0" i="1" noProof="0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ISM</m:t>
                                      </m:r>
                                    </m:sub>
                                    <m:sup>
                                      <m:r>
                                        <a:rPr lang="it-IT" sz="2400" b="0" i="1" noProof="0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den>
                              </m:f>
                            </m:e>
                          </m:box>
                        </m:sup>
                      </m:sSup>
                    </m:oMath>
                  </a14:m>
                  <a:endParaRPr lang="it-IT" sz="2400" b="0" noProof="0" dirty="0"/>
                </a:p>
                <a:p>
                  <a:endParaRPr lang="it-IT" sz="2400" b="0" noProof="0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BEE43446-1045-35DD-BED6-12E11BBE49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2566" y="3410557"/>
                  <a:ext cx="5996065" cy="106054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CF12008-F14F-D592-8705-AF22477B11D0}"/>
                  </a:ext>
                </a:extLst>
              </p:cNvPr>
              <p:cNvSpPr txBox="1"/>
              <p:nvPr/>
            </p:nvSpPr>
            <p:spPr>
              <a:xfrm>
                <a:off x="6430707" y="4905285"/>
                <a:ext cx="4236914" cy="1302408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it-IT" sz="24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b="0" i="1" noProof="0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it-IT" sz="2400" b="0" i="1" noProof="0" smtClean="0">
                            <a:latin typeface="Cambria Math" panose="02040503050406030204" pitchFamily="18" charset="0"/>
                          </a:rPr>
                          <m:t>𝐼𝑆𝑀</m:t>
                        </m:r>
                      </m:sub>
                    </m:sSub>
                    <m:r>
                      <a:rPr lang="it-IT" sz="2400" b="0" i="1" noProof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it-IT" sz="2400" b="0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it-IT" sz="2400" b="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it-IT" sz="2400" b="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it-IT" sz="2400" b="0" i="1" noProof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bSup>
                                  <m:sSubSupPr>
                                    <m:ctrlPr>
                                      <a:rPr lang="it-IT" sz="2400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it-IT" sz="2400" b="0" i="1" noProof="0" smtClean="0">
                                        <a:latin typeface="Cambria Math" panose="02040503050406030204" pitchFamily="18" charset="0"/>
                                      </a:rPr>
                                      <m:t>σ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it-IT" sz="2400" b="0" i="1" noProof="0" smtClean="0">
                                        <a:latin typeface="Cambria Math" panose="02040503050406030204" pitchFamily="18" charset="0"/>
                                      </a:rPr>
                                      <m:t>exc</m:t>
                                    </m:r>
                                  </m:sub>
                                  <m:sup>
                                    <m:r>
                                      <a:rPr lang="it-IT" sz="2400" b="0" i="1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den>
                            </m:f>
                            <m:r>
                              <a:rPr lang="it-IT" sz="2400" b="0" i="1" noProof="0" smtClean="0">
                                <a:latin typeface="Cambria Math" panose="02040503050406030204" pitchFamily="18" charset="0"/>
                              </a:rPr>
                              <m:t> +</m:t>
                            </m:r>
                            <m:f>
                              <m:fPr>
                                <m:ctrlPr>
                                  <a:rPr lang="it-IT" sz="2400" b="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it-IT" sz="2400" b="0" i="1" noProof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bSup>
                                  <m:sSubSupPr>
                                    <m:ctrlPr>
                                      <a:rPr lang="it-IT" sz="2400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it-IT" sz="2400" b="0" i="1" noProof="0" smtClean="0">
                                        <a:latin typeface="Cambria Math" panose="02040503050406030204" pitchFamily="18" charset="0"/>
                                      </a:rPr>
                                      <m:t>σ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it-IT" sz="2400" b="0" i="1" noProof="0" smtClean="0">
                                        <a:latin typeface="Cambria Math" panose="02040503050406030204" pitchFamily="18" charset="0"/>
                                      </a:rPr>
                                      <m:t>det</m:t>
                                    </m:r>
                                  </m:sub>
                                  <m:sup>
                                    <m:r>
                                      <a:rPr lang="it-IT" sz="2400" b="0" i="1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den>
                            </m:f>
                          </m:e>
                        </m:d>
                      </m:e>
                      <m:sup>
                        <m:r>
                          <a:rPr lang="it-IT" sz="2400" b="0" i="1" noProof="0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it-IT" sz="2400" b="0" i="1" noProof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it-IT" sz="2400" b="0" i="1" noProof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it-IT" sz="2400" b="0" i="1" noProof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it-IT" sz="2400" b="0" i="1" noProof="0" smtClean="0">
                        <a:latin typeface="Cambria Math" panose="02040503050406030204" pitchFamily="18" charset="0"/>
                      </a:rPr>
                      <m:t>≃</m:t>
                    </m:r>
                    <m:f>
                      <m:fPr>
                        <m:ctrlPr>
                          <a:rPr lang="it-IT" sz="24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it-IT" sz="2400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it-IT" sz="2400" b="0" i="1" noProof="0" smtClean="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it-IT" sz="2400" b="0" i="1" noProof="0" smtClean="0">
                                <a:latin typeface="Cambria Math" panose="02040503050406030204" pitchFamily="18" charset="0"/>
                              </a:rPr>
                              <m:t>det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it-IT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it-IT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lang="it-IT" sz="2400" b="0" i="1" noProof="0" dirty="0">
                    <a:latin typeface="Cambria Math" panose="02040503050406030204" pitchFamily="18" charset="0"/>
                  </a:rPr>
                  <a:t>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400" b="0" i="1" noProof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it-IT" sz="2400" noProof="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CF12008-F14F-D592-8705-AF22477B11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0707" y="4905285"/>
                <a:ext cx="4236914" cy="13024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A3F92E24-FB89-4C99-3822-81DBE0942FE3}"/>
              </a:ext>
            </a:extLst>
          </p:cNvPr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85DC76A-8DF0-41FB-8A8C-1F8E409CC644}" type="slidenum">
              <a:rPr lang="en-GB" smtClean="0"/>
              <a:pPr/>
              <a:t>7</a:t>
            </a:fld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FCB0A1E-AC34-EED7-294E-5706836F60FE}"/>
                  </a:ext>
                </a:extLst>
              </p:cNvPr>
              <p:cNvSpPr txBox="1"/>
              <p:nvPr/>
            </p:nvSpPr>
            <p:spPr>
              <a:xfrm>
                <a:off x="7004217" y="3946233"/>
                <a:ext cx="33761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 err="1"/>
                  <a:t>Assumendo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𝑒𝑥𝑐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≃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𝑑𝑒𝑡</m:t>
                        </m:r>
                      </m:sub>
                    </m:sSub>
                  </m:oMath>
                </a14:m>
                <a:endParaRPr lang="en-GB" b="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FCB0A1E-AC34-EED7-294E-5706836F60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4217" y="3946233"/>
                <a:ext cx="3376184" cy="369332"/>
              </a:xfrm>
              <a:prstGeom prst="rect">
                <a:avLst/>
              </a:prstGeom>
              <a:blipFill>
                <a:blip r:embed="rId8"/>
                <a:stretch>
                  <a:fillRect l="-1625" t="-6557" b="-2623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58B35D28-5382-87DA-BB0F-FAB9C6F86AAD}"/>
                  </a:ext>
                </a:extLst>
              </p:cNvPr>
              <p:cNvSpPr/>
              <p:nvPr/>
            </p:nvSpPr>
            <p:spPr>
              <a:xfrm>
                <a:off x="511277" y="5472652"/>
                <a:ext cx="5007890" cy="619434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IT" sz="2000" noProof="0" dirty="0"/>
                  <a:t>È atteso un guadagno di un fattore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it-IT" sz="20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endParaRPr lang="it-IT" sz="2000" noProof="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58B35D28-5382-87DA-BB0F-FAB9C6F86A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77" y="5472652"/>
                <a:ext cx="5007890" cy="619434"/>
              </a:xfrm>
              <a:prstGeom prst="rect">
                <a:avLst/>
              </a:prstGeom>
              <a:blipFill>
                <a:blip r:embed="rId9"/>
                <a:stretch>
                  <a:fillRect b="-192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88085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322465C-FDD3-8056-5D03-8A9850002B95}"/>
              </a:ext>
            </a:extLst>
          </p:cNvPr>
          <p:cNvSpPr/>
          <p:nvPr/>
        </p:nvSpPr>
        <p:spPr>
          <a:xfrm>
            <a:off x="660400" y="1971040"/>
            <a:ext cx="6380480" cy="46228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Content Placeholder 6" descr="A graph of a slope&#10;&#10;AI-generated content may be incorrect.">
            <a:extLst>
              <a:ext uri="{FF2B5EF4-FFF2-40B4-BE49-F238E27FC236}">
                <a16:creationId xmlns:a16="http://schemas.microsoft.com/office/drawing/2014/main" id="{B1A27C0C-7145-E480-902C-F9C55D99633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84" y="2368896"/>
            <a:ext cx="5496085" cy="4123979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3F09230-833B-789F-45E7-BB5AE30391FF}"/>
              </a:ext>
            </a:extLst>
          </p:cNvPr>
          <p:cNvSpPr/>
          <p:nvPr/>
        </p:nvSpPr>
        <p:spPr>
          <a:xfrm rot="1964958">
            <a:off x="2437167" y="3317540"/>
            <a:ext cx="4547090" cy="95484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729542-2D86-BE5C-63B8-439AD9992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279779"/>
            <a:ext cx="3202858" cy="765585"/>
          </a:xfrm>
        </p:spPr>
        <p:txBody>
          <a:bodyPr>
            <a:normAutofit/>
          </a:bodyPr>
          <a:lstStyle/>
          <a:p>
            <a:r>
              <a:rPr lang="it-IT" sz="4000" noProof="0" dirty="0"/>
              <a:t>Quantum dots</a:t>
            </a:r>
          </a:p>
        </p:txBody>
      </p:sp>
      <p:pic>
        <p:nvPicPr>
          <p:cNvPr id="9" name="Content Placeholder 8" descr="A diagram of a diagram of a line&#10;&#10;AI-generated content may be incorrect.">
            <a:extLst>
              <a:ext uri="{FF2B5EF4-FFF2-40B4-BE49-F238E27FC236}">
                <a16:creationId xmlns:a16="http://schemas.microsoft.com/office/drawing/2014/main" id="{6D6E55AB-FDAA-4509-3379-7E21C158E69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7342" y="4282440"/>
            <a:ext cx="3011491" cy="1953399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19DC69E-4470-C695-5DA4-A6EAE89199E6}"/>
              </a:ext>
            </a:extLst>
          </p:cNvPr>
          <p:cNvSpPr txBox="1"/>
          <p:nvPr/>
        </p:nvSpPr>
        <p:spPr>
          <a:xfrm>
            <a:off x="660400" y="1169648"/>
            <a:ext cx="780681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noProof="0" dirty="0"/>
              <a:t>I </a:t>
            </a:r>
            <a:r>
              <a:rPr lang="it-IT" b="1" noProof="0" dirty="0"/>
              <a:t>quantum dots</a:t>
            </a:r>
            <a:r>
              <a:rPr lang="it-IT" noProof="0" dirty="0"/>
              <a:t> sono nanoparticelle semiconduttori che alternano stocasticamente stati di </a:t>
            </a:r>
            <a:r>
              <a:rPr lang="it-IT" sz="2000" noProof="0" dirty="0"/>
              <a:t>fluorescenza</a:t>
            </a:r>
            <a:r>
              <a:rPr lang="it-IT" noProof="0" dirty="0"/>
              <a:t> </a:t>
            </a:r>
            <a:r>
              <a:rPr lang="it-IT" b="1" noProof="0" dirty="0"/>
              <a:t>ON</a:t>
            </a:r>
            <a:r>
              <a:rPr lang="it-IT" noProof="0" dirty="0"/>
              <a:t> e </a:t>
            </a:r>
            <a:r>
              <a:rPr lang="it-IT" b="1" noProof="0" dirty="0"/>
              <a:t>OFF</a:t>
            </a:r>
            <a:r>
              <a:rPr lang="it-IT" noProof="0" dirty="0"/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768151-EC9C-2879-9F4C-7D684F409B81}"/>
              </a:ext>
            </a:extLst>
          </p:cNvPr>
          <p:cNvSpPr txBox="1"/>
          <p:nvPr/>
        </p:nvSpPr>
        <p:spPr>
          <a:xfrm>
            <a:off x="838200" y="2138063"/>
            <a:ext cx="6018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noProof="0" dirty="0"/>
              <a:t>Il tempo di </a:t>
            </a:r>
            <a:r>
              <a:rPr lang="it-IT" sz="2000" i="1" noProof="0" dirty="0"/>
              <a:t>blinking</a:t>
            </a:r>
            <a:r>
              <a:rPr lang="it-IT" sz="2000" noProof="0" dirty="0"/>
              <a:t> dipende da </a:t>
            </a:r>
            <a:r>
              <a:rPr lang="it-IT" sz="2000" b="1" noProof="0" dirty="0"/>
              <a:t>una legge di potenza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97A4FFA-9A66-088D-69C1-E8AED4381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DC76A-8DF0-41FB-8A8C-1F8E409CC644}" type="slidenum">
              <a:rPr lang="en-GB" smtClean="0"/>
              <a:t>8</a:t>
            </a:fld>
            <a:endParaRPr lang="en-GB" dirty="0"/>
          </a:p>
        </p:txBody>
      </p:sp>
      <p:pic>
        <p:nvPicPr>
          <p:cNvPr id="15" name="Picture 14" descr="A close-up of a microscope&#10;&#10;AI-generated content may be incorrect.">
            <a:extLst>
              <a:ext uri="{FF2B5EF4-FFF2-40B4-BE49-F238E27FC236}">
                <a16:creationId xmlns:a16="http://schemas.microsoft.com/office/drawing/2014/main" id="{A029249D-6FBA-811B-108E-61F2D15607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4847" y="359551"/>
            <a:ext cx="3776479" cy="355702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B3CACDB-8A16-5B27-D62A-957C71BD28B3}"/>
              </a:ext>
            </a:extLst>
          </p:cNvPr>
          <p:cNvSpPr/>
          <p:nvPr/>
        </p:nvSpPr>
        <p:spPr>
          <a:xfrm>
            <a:off x="3116827" y="4430885"/>
            <a:ext cx="904567" cy="40011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19146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70155189-D96C-4527-B0EC-654B946BE6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688FB7-8ED8-FF6F-16DF-34886A29D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899" y="138904"/>
            <a:ext cx="5023351" cy="79663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z="4000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Apparato sperimentale</a:t>
            </a:r>
          </a:p>
        </p:txBody>
      </p:sp>
      <p:pic>
        <p:nvPicPr>
          <p:cNvPr id="8" name="Content Placeholder 7" descr="A diagram of a machine&#10;&#10;AI-generated content may be incorrect.">
            <a:extLst>
              <a:ext uri="{FF2B5EF4-FFF2-40B4-BE49-F238E27FC236}">
                <a16:creationId xmlns:a16="http://schemas.microsoft.com/office/drawing/2014/main" id="{2053CC1E-F9E8-138D-263C-615CF256174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2147" y="1189488"/>
            <a:ext cx="6949574" cy="5246927"/>
          </a:xfrm>
          <a:prstGeom prst="rect">
            <a:avLst/>
          </a:prstGeom>
        </p:spPr>
      </p:pic>
      <p:pic>
        <p:nvPicPr>
          <p:cNvPr id="10" name="Picture 9" descr="A diagram of a diagram of different colors&#10;&#10;AI-generated content may be incorrect.">
            <a:extLst>
              <a:ext uri="{FF2B5EF4-FFF2-40B4-BE49-F238E27FC236}">
                <a16:creationId xmlns:a16="http://schemas.microsoft.com/office/drawing/2014/main" id="{01F26B3C-9FFF-9FFA-05FB-780E432032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292" y="1453485"/>
            <a:ext cx="2760462" cy="2042741"/>
          </a:xfrm>
          <a:prstGeom prst="rect">
            <a:avLst/>
          </a:prstGeom>
          <a:ln>
            <a:solidFill>
              <a:schemeClr val="accent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E300AB2-5145-01C3-E056-F28E4E6EC3B4}"/>
                  </a:ext>
                </a:extLst>
              </p:cNvPr>
              <p:cNvSpPr txBox="1"/>
              <p:nvPr/>
            </p:nvSpPr>
            <p:spPr>
              <a:xfrm>
                <a:off x="468899" y="834854"/>
                <a:ext cx="1172005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2000" noProof="0" dirty="0"/>
                  <a:t>L’apparato sperimentale è costituito da un microscopio a </a:t>
                </a:r>
                <a:r>
                  <a:rPr lang="it-IT" sz="2000" b="1" noProof="0" dirty="0"/>
                  <a:t>due fotoni </a:t>
                </a:r>
                <a:r>
                  <a:rPr lang="it-IT" sz="2000" noProof="0" dirty="0"/>
                  <a:t>a laser pulsato con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sz="2000" b="0" i="1" noProof="0" smtClean="0"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lang="it-IT" sz="2000" noProof="0" dirty="0"/>
                  <a:t> = 770nm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E300AB2-5145-01C3-E056-F28E4E6EC3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899" y="834854"/>
                <a:ext cx="11720052" cy="400110"/>
              </a:xfrm>
              <a:prstGeom prst="rect">
                <a:avLst/>
              </a:prstGeom>
              <a:blipFill>
                <a:blip r:embed="rId4"/>
                <a:stretch>
                  <a:fillRect l="-572" t="-7576" b="-2727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1E141BC9-64E8-17C1-E332-1DCBCB78BC47}"/>
              </a:ext>
            </a:extLst>
          </p:cNvPr>
          <p:cNvSpPr txBox="1"/>
          <p:nvPr/>
        </p:nvSpPr>
        <p:spPr>
          <a:xfrm>
            <a:off x="688258" y="3744846"/>
            <a:ext cx="737878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noProof="0" dirty="0"/>
              <a:t>I parametri da impostare per l’acquisizione sono:</a:t>
            </a:r>
          </a:p>
          <a:p>
            <a:endParaRPr lang="it-IT" sz="2000" noProof="0" dirty="0"/>
          </a:p>
          <a:p>
            <a:r>
              <a:rPr lang="it-IT" sz="2000" noProof="0" dirty="0"/>
              <a:t>• dimensione del campo di osservazione (FOV)</a:t>
            </a:r>
          </a:p>
          <a:p>
            <a:r>
              <a:rPr lang="it-IT" sz="2000" noProof="0" dirty="0"/>
              <a:t>• potenza del laser</a:t>
            </a:r>
          </a:p>
          <a:p>
            <a:r>
              <a:rPr lang="it-IT" sz="2000" noProof="0" dirty="0"/>
              <a:t>• dimensione in pixel</a:t>
            </a:r>
          </a:p>
          <a:p>
            <a:r>
              <a:rPr lang="it-IT" sz="2000" noProof="0" dirty="0"/>
              <a:t>• tempo di acquisizione per pixel</a:t>
            </a:r>
          </a:p>
          <a:p>
            <a:r>
              <a:rPr lang="it-IT" sz="2000" noProof="0" dirty="0"/>
              <a:t>• frequenza di campionamento</a:t>
            </a:r>
          </a:p>
          <a:p>
            <a:r>
              <a:rPr lang="it-IT" sz="2000" noProof="0" dirty="0"/>
              <a:t>• numero di ripetizioni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154BD7BB-BB0E-B2B1-E2D8-0B8F3626F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DC76A-8DF0-41FB-8A8C-1F8E409CC644}" type="slidenum">
              <a:rPr lang="en-GB" smtClean="0"/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13215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C00FA-4766-A1A7-E339-C482400A3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132" y="507820"/>
            <a:ext cx="5631426" cy="535056"/>
          </a:xfrm>
        </p:spPr>
        <p:txBody>
          <a:bodyPr>
            <a:normAutofit fontScale="90000"/>
          </a:bodyPr>
          <a:lstStyle/>
          <a:p>
            <a:r>
              <a:rPr lang="it-IT" sz="4000" noProof="0" dirty="0"/>
              <a:t>Tracce temporali con PMT</a:t>
            </a:r>
          </a:p>
        </p:txBody>
      </p:sp>
      <p:pic>
        <p:nvPicPr>
          <p:cNvPr id="6" name="Content Placeholder 5" descr="A graph of red lines&#10;&#10;AI-generated content may be incorrect.">
            <a:extLst>
              <a:ext uri="{FF2B5EF4-FFF2-40B4-BE49-F238E27FC236}">
                <a16:creationId xmlns:a16="http://schemas.microsoft.com/office/drawing/2014/main" id="{9144E559-3297-33D2-552A-41E7E04F403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132" y="1271159"/>
            <a:ext cx="10515600" cy="2384510"/>
          </a:xfrm>
        </p:spPr>
      </p:pic>
      <p:pic>
        <p:nvPicPr>
          <p:cNvPr id="8" name="Picture 7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0E11625F-C11A-6305-2A23-2FC4FA6083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3161" y="3668209"/>
            <a:ext cx="2258029" cy="2258029"/>
          </a:xfrm>
          <a:prstGeom prst="rect">
            <a:avLst/>
          </a:prstGeom>
        </p:spPr>
      </p:pic>
      <p:pic>
        <p:nvPicPr>
          <p:cNvPr id="10" name="Picture 9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00B97591-AB35-5644-B784-2507670309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1190" y="3668209"/>
            <a:ext cx="2258029" cy="2258029"/>
          </a:xfrm>
          <a:prstGeom prst="rect">
            <a:avLst/>
          </a:prstGeom>
        </p:spPr>
      </p:pic>
      <p:pic>
        <p:nvPicPr>
          <p:cNvPr id="12" name="Picture 11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C7B81BF0-1C65-9060-F211-3F6224765D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132" y="3668209"/>
            <a:ext cx="2258029" cy="225802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C679AA8-3D27-B682-DAAE-202DB0340B63}"/>
              </a:ext>
            </a:extLst>
          </p:cNvPr>
          <p:cNvSpPr txBox="1"/>
          <p:nvPr/>
        </p:nvSpPr>
        <p:spPr>
          <a:xfrm>
            <a:off x="7689327" y="3912501"/>
            <a:ext cx="3547633" cy="163121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noProof="0" dirty="0"/>
              <a:t>potenza del laser: 24mW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noProof="0" dirty="0"/>
              <a:t>FOV: 2.5 µm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noProof="0" dirty="0"/>
              <a:t>Dimensione: 32x32 pixel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noProof="0" dirty="0"/>
              <a:t>tempo di residenza: 1ms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noProof="0" dirty="0"/>
              <a:t>Ripetizioni: 600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6789461-7F05-1FD8-1B67-BF1708FC3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DC76A-8DF0-41FB-8A8C-1F8E409CC644}" type="slidenum">
              <a:rPr lang="en-GB" smtClean="0"/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06390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70155189-D96C-4527-B0EC-654B946BE6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17225B-60A0-0AE8-A453-0EF4B4B71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914" y="557195"/>
            <a:ext cx="1372096" cy="69573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it-IT" sz="4000" noProof="0" dirty="0"/>
              <a:t>SOFI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39D01D4-DE73-3341-513C-48162846BA7D}"/>
                  </a:ext>
                </a:extLst>
              </p:cNvPr>
              <p:cNvSpPr txBox="1"/>
              <p:nvPr/>
            </p:nvSpPr>
            <p:spPr>
              <a:xfrm>
                <a:off x="-204083" y="1475818"/>
                <a:ext cx="12320754" cy="78046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1000"/>
                  </a:spcBef>
                </a:pPr>
                <a:r>
                  <a:rPr lang="it-IT" sz="2000" noProof="0" dirty="0"/>
                  <a:t>L'immagine SOFI è costruita attribuendo al pixel il valore della funzione di autocorrelazione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sz="2000" b="1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2000" b="1" i="1" noProof="0" smtClean="0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p>
                        <m:r>
                          <a:rPr lang="it-IT" sz="2000" b="1" i="1" noProof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it-IT" sz="2000" b="1" i="1" noProof="0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it-IT" sz="2000" b="1" i="1" noProof="0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it-IT" sz="2000" b="1" i="1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sz="2000" b="1" i="1" noProof="0" smtClean="0">
                        <a:latin typeface="Cambria Math" panose="02040503050406030204" pitchFamily="18" charset="0"/>
                      </a:rPr>
                      <m:t>𝝉</m:t>
                    </m:r>
                    <m:r>
                      <a:rPr lang="it-IT" sz="2000" b="1" i="1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it-IT" sz="2000" b="1" noProof="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39D01D4-DE73-3341-513C-48162846BA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04083" y="1475818"/>
                <a:ext cx="12320754" cy="780466"/>
              </a:xfrm>
              <a:prstGeom prst="rect">
                <a:avLst/>
              </a:prstGeom>
              <a:blipFill>
                <a:blip r:embed="rId2"/>
                <a:stretch>
                  <a:fillRect t="-546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 descr="A close-up of a red and yellow light&#10;&#10;AI-generated content may be incorrect.">
            <a:extLst>
              <a:ext uri="{FF2B5EF4-FFF2-40B4-BE49-F238E27FC236}">
                <a16:creationId xmlns:a16="http://schemas.microsoft.com/office/drawing/2014/main" id="{E0FBBFE5-BECB-6F8D-1BB5-A78221057A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6916" y="2937601"/>
            <a:ext cx="3731709" cy="3514855"/>
          </a:xfrm>
          <a:prstGeom prst="rect">
            <a:avLst/>
          </a:prstGeom>
        </p:spPr>
      </p:pic>
      <p:pic>
        <p:nvPicPr>
          <p:cNvPr id="9" name="Content Placeholder 8" descr="A close-up of a red and yellow light&#10;&#10;AI-generated content may be incorrect.">
            <a:extLst>
              <a:ext uri="{FF2B5EF4-FFF2-40B4-BE49-F238E27FC236}">
                <a16:creationId xmlns:a16="http://schemas.microsoft.com/office/drawing/2014/main" id="{EBE8B360-648F-5BB2-21C1-CE273AAE4EF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6299" y="2937601"/>
            <a:ext cx="3731709" cy="3514855"/>
          </a:xfrm>
          <a:prstGeom prst="rect">
            <a:avLst/>
          </a:prstGeom>
        </p:spPr>
      </p:pic>
      <p:pic>
        <p:nvPicPr>
          <p:cNvPr id="7" name="Content Placeholder 6" descr="A close-up of a red and yellow light&#10;&#10;AI-generated content may be incorrect.">
            <a:extLst>
              <a:ext uri="{FF2B5EF4-FFF2-40B4-BE49-F238E27FC236}">
                <a16:creationId xmlns:a16="http://schemas.microsoft.com/office/drawing/2014/main" id="{549A1F09-5D88-1CB9-ED2E-575CFBA409E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682" y="2937601"/>
            <a:ext cx="3731709" cy="351485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09ADEC0-89FB-9E56-6D8E-A01528DCDB96}"/>
              </a:ext>
            </a:extLst>
          </p:cNvPr>
          <p:cNvSpPr txBox="1"/>
          <p:nvPr/>
        </p:nvSpPr>
        <p:spPr>
          <a:xfrm>
            <a:off x="1573581" y="2610039"/>
            <a:ext cx="1215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noProof="0" dirty="0"/>
              <a:t>Confocale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BC87E64-447D-232E-561A-AAAE11E789CE}"/>
                  </a:ext>
                </a:extLst>
              </p:cNvPr>
              <p:cNvSpPr txBox="1"/>
              <p:nvPr/>
            </p:nvSpPr>
            <p:spPr>
              <a:xfrm>
                <a:off x="4963621" y="2568269"/>
                <a:ext cx="2257063" cy="3929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it-IT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it-IT" b="0" i="1" noProof="0" smtClean="0">
                              <a:latin typeface="Cambria Math" panose="02040503050406030204" pitchFamily="18" charset="0"/>
                            </a:rPr>
                            <m:t>G</m:t>
                          </m:r>
                        </m:e>
                        <m:sup>
                          <m:r>
                            <a:rPr lang="it-IT" b="0" i="1" noProof="0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p>
                      <m:r>
                        <a:rPr lang="it-IT" b="0" i="1" noProof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it-IT" b="0" i="1" noProof="0" smtClean="0">
                          <a:latin typeface="Cambria Math" panose="02040503050406030204" pitchFamily="18" charset="0"/>
                        </a:rPr>
                        <m:t>τ</m:t>
                      </m:r>
                      <m:r>
                        <a:rPr lang="it-IT" b="0" i="1" noProof="0" smtClean="0">
                          <a:latin typeface="Cambria Math" panose="02040503050406030204" pitchFamily="18" charset="0"/>
                        </a:rPr>
                        <m:t>=0</m:t>
                      </m:r>
                      <m:r>
                        <m:rPr>
                          <m:sty m:val="p"/>
                        </m:rPr>
                        <a:rPr lang="it-IT" b="0" i="1" noProof="0" smtClean="0">
                          <a:latin typeface="Cambria Math" panose="02040503050406030204" pitchFamily="18" charset="0"/>
                        </a:rPr>
                        <m:t>ms</m:t>
                      </m:r>
                      <m:r>
                        <a:rPr lang="it-IT" b="0" i="1" noProof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noProof="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BC87E64-447D-232E-561A-AAAE11E789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3621" y="2568269"/>
                <a:ext cx="2257063" cy="392993"/>
              </a:xfrm>
              <a:prstGeom prst="rect">
                <a:avLst/>
              </a:prstGeom>
              <a:blipFill>
                <a:blip r:embed="rId7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42888D7-ACF0-0D30-2445-F3AB268C603C}"/>
                  </a:ext>
                </a:extLst>
              </p:cNvPr>
              <p:cNvSpPr txBox="1"/>
              <p:nvPr/>
            </p:nvSpPr>
            <p:spPr>
              <a:xfrm>
                <a:off x="8973572" y="2544608"/>
                <a:ext cx="2017256" cy="3929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it-IT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it-IT" b="0" i="1" noProof="0" smtClean="0">
                              <a:latin typeface="Cambria Math" panose="02040503050406030204" pitchFamily="18" charset="0"/>
                            </a:rPr>
                            <m:t>G</m:t>
                          </m:r>
                        </m:e>
                        <m:sup>
                          <m:r>
                            <a:rPr lang="it-IT" b="0" i="1" noProof="0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p>
                      <m:r>
                        <a:rPr lang="it-IT" b="0" i="1" noProof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it-IT" b="0" i="1" noProof="0" smtClean="0">
                          <a:latin typeface="Cambria Math" panose="02040503050406030204" pitchFamily="18" charset="0"/>
                        </a:rPr>
                        <m:t>τ</m:t>
                      </m:r>
                      <m:r>
                        <a:rPr lang="it-IT" b="0" i="1" noProof="0" smtClean="0">
                          <a:latin typeface="Cambria Math" panose="02040503050406030204" pitchFamily="18" charset="0"/>
                        </a:rPr>
                        <m:t>=1</m:t>
                      </m:r>
                      <m:r>
                        <m:rPr>
                          <m:sty m:val="p"/>
                        </m:rPr>
                        <a:rPr lang="it-IT" b="0" i="1" noProof="0" smtClean="0">
                          <a:latin typeface="Cambria Math" panose="02040503050406030204" pitchFamily="18" charset="0"/>
                        </a:rPr>
                        <m:t>ms</m:t>
                      </m:r>
                      <m:r>
                        <a:rPr lang="it-IT" b="0" i="1" noProof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noProof="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42888D7-ACF0-0D30-2445-F3AB268C60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3572" y="2544608"/>
                <a:ext cx="2017256" cy="392993"/>
              </a:xfrm>
              <a:prstGeom prst="rect">
                <a:avLst/>
              </a:prstGeom>
              <a:blipFill>
                <a:blip r:embed="rId8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A9A7A767-E97C-74FC-2C9E-08C4910C3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08001"/>
            <a:ext cx="2743200" cy="365125"/>
          </a:xfrm>
        </p:spPr>
        <p:txBody>
          <a:bodyPr/>
          <a:lstStyle/>
          <a:p>
            <a:fld id="{B85DC76A-8DF0-41FB-8A8C-1F8E409CC644}" type="slidenum">
              <a:rPr lang="en-GB" smtClean="0"/>
              <a:t>11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760671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6201D-D9D9-AE8E-D549-75BFAF7CA0D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125819" y="491424"/>
            <a:ext cx="7940361" cy="495300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it-IT" sz="4000" noProof="0" dirty="0"/>
              <a:t>Acquisizioni e implementazione ISM</a:t>
            </a:r>
          </a:p>
        </p:txBody>
      </p:sp>
      <p:pic>
        <p:nvPicPr>
          <p:cNvPr id="6" name="Content Placeholder 5" descr="A grid of red squares&#10;&#10;AI-generated content may be incorrect.">
            <a:extLst>
              <a:ext uri="{FF2B5EF4-FFF2-40B4-BE49-F238E27FC236}">
                <a16:creationId xmlns:a16="http://schemas.microsoft.com/office/drawing/2014/main" id="{97E0462E-1D25-3C16-4A30-03F2CBADA3DC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289" y="1551048"/>
            <a:ext cx="4126249" cy="410453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2BCEE0F-1949-C2FA-E238-45D96E170404}"/>
              </a:ext>
            </a:extLst>
          </p:cNvPr>
          <p:cNvSpPr txBox="1"/>
          <p:nvPr/>
        </p:nvSpPr>
        <p:spPr>
          <a:xfrm>
            <a:off x="8501240" y="2116551"/>
            <a:ext cx="336802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noProof="0" dirty="0"/>
              <a:t>potenza del laser: 37mW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2000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noProof="0" dirty="0"/>
              <a:t>FOV: 5µm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2000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noProof="0" dirty="0"/>
              <a:t>Dimensione: 64×64 px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2000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noProof="0" dirty="0"/>
              <a:t>tempo di residenza: 5ms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2000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noProof="0" dirty="0"/>
              <a:t>numero ripetizioni: 100</a:t>
            </a:r>
          </a:p>
        </p:txBody>
      </p:sp>
      <p:pic>
        <p:nvPicPr>
          <p:cNvPr id="21" name="Picture 20" descr="A grid of orange squares&#10;&#10;AI-generated content may be incorrect.">
            <a:extLst>
              <a:ext uri="{FF2B5EF4-FFF2-40B4-BE49-F238E27FC236}">
                <a16:creationId xmlns:a16="http://schemas.microsoft.com/office/drawing/2014/main" id="{3D30394E-1251-C73D-ED61-E339304959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7838" y="1551048"/>
            <a:ext cx="4124802" cy="4104533"/>
          </a:xfrm>
          <a:prstGeom prst="rect">
            <a:avLst/>
          </a:prstGeom>
        </p:spPr>
      </p:pic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3B92B8F4-1508-9CD2-8AB5-9238B6A48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DC76A-8DF0-41FB-8A8C-1F8E409CC644}" type="slidenum">
              <a:rPr lang="en-GB" smtClean="0"/>
              <a:t>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397018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graph of a graph&#10;&#10;AI-generated content may be incorrect.">
            <a:extLst>
              <a:ext uri="{FF2B5EF4-FFF2-40B4-BE49-F238E27FC236}">
                <a16:creationId xmlns:a16="http://schemas.microsoft.com/office/drawing/2014/main" id="{4E695088-43A1-4334-ACC0-DB5697FF93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337" y="2424844"/>
            <a:ext cx="2160000" cy="2160000"/>
          </a:xfrm>
          <a:prstGeom prst="rect">
            <a:avLst/>
          </a:prstGeom>
        </p:spPr>
      </p:pic>
      <p:pic>
        <p:nvPicPr>
          <p:cNvPr id="25" name="Picture 24" descr="A diagram of a graph&#10;&#10;AI-generated content may be incorrect.">
            <a:extLst>
              <a:ext uri="{FF2B5EF4-FFF2-40B4-BE49-F238E27FC236}">
                <a16:creationId xmlns:a16="http://schemas.microsoft.com/office/drawing/2014/main" id="{0239871D-83EE-71C2-2348-19A5C89DF1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0410" y="2424844"/>
            <a:ext cx="2160000" cy="2160000"/>
          </a:xfrm>
          <a:prstGeom prst="rect">
            <a:avLst/>
          </a:prstGeom>
        </p:spPr>
      </p:pic>
      <p:pic>
        <p:nvPicPr>
          <p:cNvPr id="27" name="Picture 26" descr="A diagram of a graph&#10;&#10;AI-generated content may be incorrect.">
            <a:extLst>
              <a:ext uri="{FF2B5EF4-FFF2-40B4-BE49-F238E27FC236}">
                <a16:creationId xmlns:a16="http://schemas.microsoft.com/office/drawing/2014/main" id="{4BD6A8BE-1A96-B0E2-6020-8CD154BF4E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0600" y="2424844"/>
            <a:ext cx="2160000" cy="2160000"/>
          </a:xfrm>
          <a:prstGeom prst="rect">
            <a:avLst/>
          </a:prstGeom>
        </p:spPr>
      </p:pic>
      <p:pic>
        <p:nvPicPr>
          <p:cNvPr id="29" name="Picture 28" descr="A graph with blue dots&#10;&#10;AI-generated content may be incorrect.">
            <a:extLst>
              <a:ext uri="{FF2B5EF4-FFF2-40B4-BE49-F238E27FC236}">
                <a16:creationId xmlns:a16="http://schemas.microsoft.com/office/drawing/2014/main" id="{0E1E4D5D-CC60-39CF-407E-AD9FDE74D7D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3066" y="2385134"/>
            <a:ext cx="2160000" cy="21600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37739295-38F5-A145-4867-CC08C3843D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0773" y="4562400"/>
            <a:ext cx="2291301" cy="215815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DF191F74-8EF6-EB94-E34B-2B0E6D43B01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48950" y="4604248"/>
            <a:ext cx="2291301" cy="215815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138786A0-F3E9-94D6-533F-40162372045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37129" y="4546059"/>
            <a:ext cx="2291301" cy="215815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D67C29B-544B-99F6-02F0-949BA152CFB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25306" y="4537886"/>
            <a:ext cx="2291301" cy="215815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501DE003-45C7-FF2E-0A53-223D27B5A74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0774" y="153792"/>
            <a:ext cx="2291301" cy="215815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963B62B0-C5AA-B060-FFDB-250C3781A3F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48951" y="153791"/>
            <a:ext cx="2291301" cy="215815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CA663472-7D1B-4D00-8BAE-296C3A03FB2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37129" y="153792"/>
            <a:ext cx="2291301" cy="215815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DB171C02-1403-A137-5978-318EFDB5418C}"/>
              </a:ext>
            </a:extLst>
          </p:cNvPr>
          <p:cNvSpPr txBox="1"/>
          <p:nvPr/>
        </p:nvSpPr>
        <p:spPr>
          <a:xfrm rot="16200000">
            <a:off x="-249749" y="1032811"/>
            <a:ext cx="17433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noProof="0" dirty="0"/>
              <a:t>CONFOCALE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FD3015A-CD98-721B-E7D9-A371AC2C3A0B}"/>
              </a:ext>
            </a:extLst>
          </p:cNvPr>
          <p:cNvSpPr txBox="1"/>
          <p:nvPr/>
        </p:nvSpPr>
        <p:spPr>
          <a:xfrm rot="16200000">
            <a:off x="13026" y="3208201"/>
            <a:ext cx="1226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noProof="0" dirty="0"/>
              <a:t>SHIFT APR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EFF16B2-EA08-823C-08CD-8987EB66BFCF}"/>
              </a:ext>
            </a:extLst>
          </p:cNvPr>
          <p:cNvSpPr txBox="1"/>
          <p:nvPr/>
        </p:nvSpPr>
        <p:spPr>
          <a:xfrm rot="16200000">
            <a:off x="309932" y="5352812"/>
            <a:ext cx="5998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noProof="0" dirty="0"/>
              <a:t>ISM</a:t>
            </a:r>
          </a:p>
        </p:txBody>
      </p:sp>
      <p:sp>
        <p:nvSpPr>
          <p:cNvPr id="49" name="Slide Number Placeholder 48">
            <a:extLst>
              <a:ext uri="{FF2B5EF4-FFF2-40B4-BE49-F238E27FC236}">
                <a16:creationId xmlns:a16="http://schemas.microsoft.com/office/drawing/2014/main" id="{45304FA6-BBC7-3B2C-2370-81D4D4827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DC76A-8DF0-41FB-8A8C-1F8E409CC644}" type="slidenum">
              <a:rPr lang="en-GB" smtClean="0"/>
              <a:t>13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C503D0-908D-687A-31B5-57DEA9EE91C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25306" y="161963"/>
            <a:ext cx="2291301" cy="215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8732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red green and white squares&#10;&#10;AI-generated content may be incorrect.">
            <a:extLst>
              <a:ext uri="{FF2B5EF4-FFF2-40B4-BE49-F238E27FC236}">
                <a16:creationId xmlns:a16="http://schemas.microsoft.com/office/drawing/2014/main" id="{0DDBAC85-3A7D-5458-4966-A268EF61A4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9396"/>
            <a:ext cx="6559346" cy="5919208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84ECF1B7-9BF0-4B14-6B20-39FBC5C7437E}"/>
              </a:ext>
            </a:extLst>
          </p:cNvPr>
          <p:cNvSpPr/>
          <p:nvPr/>
        </p:nvSpPr>
        <p:spPr>
          <a:xfrm>
            <a:off x="1330561" y="5748484"/>
            <a:ext cx="2327039" cy="544161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B24F4A25-91E0-EEA1-903A-6578A9859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64504"/>
            <a:ext cx="2743200" cy="365125"/>
          </a:xfrm>
        </p:spPr>
        <p:txBody>
          <a:bodyPr/>
          <a:lstStyle/>
          <a:p>
            <a:fld id="{B85DC76A-8DF0-41FB-8A8C-1F8E409CC644}" type="slidenum">
              <a:rPr lang="en-GB" smtClean="0"/>
              <a:t>14</a:t>
            </a:fld>
            <a:endParaRPr lang="en-GB" dirty="0"/>
          </a:p>
        </p:txBody>
      </p:sp>
      <p:pic>
        <p:nvPicPr>
          <p:cNvPr id="4" name="Picture 3" descr="A green rectangular object with black text&#10;&#10;AI-generated content may be incorrect.">
            <a:extLst>
              <a:ext uri="{FF2B5EF4-FFF2-40B4-BE49-F238E27FC236}">
                <a16:creationId xmlns:a16="http://schemas.microsoft.com/office/drawing/2014/main" id="{44D2BD37-40C6-D541-2A67-4264C22E96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9346" y="2511528"/>
            <a:ext cx="5467757" cy="1834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2460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E7F05-3E7E-DD67-D44E-CE58487BA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380" y="301091"/>
            <a:ext cx="9043219" cy="519778"/>
          </a:xfrm>
        </p:spPr>
        <p:txBody>
          <a:bodyPr>
            <a:normAutofit fontScale="90000"/>
          </a:bodyPr>
          <a:lstStyle/>
          <a:p>
            <a:r>
              <a:rPr lang="it-IT" noProof="0" dirty="0"/>
              <a:t>Impiego delle tracce temporali con SOFISM</a:t>
            </a:r>
          </a:p>
        </p:txBody>
      </p:sp>
      <p:pic>
        <p:nvPicPr>
          <p:cNvPr id="7" name="Content Placeholder 6" descr="A diagram of a diagram of a diagram&#10;&#10;AI-generated content may be incorrect.">
            <a:extLst>
              <a:ext uri="{FF2B5EF4-FFF2-40B4-BE49-F238E27FC236}">
                <a16:creationId xmlns:a16="http://schemas.microsoft.com/office/drawing/2014/main" id="{4E961C7A-0DBD-AF5F-C6BA-B1DD9256C58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2157" y="825516"/>
            <a:ext cx="9326884" cy="3919204"/>
          </a:xfr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AE73157-A9C1-C60C-05FE-8E76B5AC8BE3}"/>
              </a:ext>
            </a:extLst>
          </p:cNvPr>
          <p:cNvSpPr/>
          <p:nvPr/>
        </p:nvSpPr>
        <p:spPr>
          <a:xfrm>
            <a:off x="6177280" y="5935020"/>
            <a:ext cx="5791200" cy="6194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noProof="0" dirty="0"/>
              <a:t>È atteso un guadagno di un fattore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7E73717-3A67-3269-3E64-B2ABBCB133B9}"/>
                  </a:ext>
                </a:extLst>
              </p:cNvPr>
              <p:cNvSpPr txBox="1"/>
              <p:nvPr/>
            </p:nvSpPr>
            <p:spPr>
              <a:xfrm>
                <a:off x="829876" y="5834517"/>
                <a:ext cx="3735977" cy="442878"/>
              </a:xfrm>
              <a:prstGeom prst="rect">
                <a:avLst/>
              </a:prstGeom>
              <a:ln>
                <a:solidFill>
                  <a:srgbClr val="4DB3FF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it-IT" i="1"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it-IT" i="1">
                            <a:latin typeface="Cambria Math" panose="02040503050406030204" pitchFamily="18" charset="0"/>
                          </a:rPr>
                          <m:t>ab</m:t>
                        </m:r>
                      </m:sub>
                      <m:sup>
                        <m:d>
                          <m:d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p>
                    </m:sSubSup>
                    <m:d>
                      <m:d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it-IT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it-IT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∝</m:t>
                    </m:r>
                  </m:oMath>
                </a14:m>
                <a:r>
                  <a:rPr lang="en-GB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b="1" i="1">
                            <a:latin typeface="Cambria Math" panose="02040503050406030204" pitchFamily="18" charset="0"/>
                          </a:rPr>
                          <m:t>𝑷𝑺𝑭</m:t>
                        </m:r>
                      </m:e>
                      <m:sup>
                        <m:r>
                          <a:rPr lang="it-IT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GB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b="1" i="1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GB" b="1" i="1" smtClean="0">
                            <a:latin typeface="Cambria Math" panose="02040503050406030204" pitchFamily="18" charset="0"/>
                          </a:rPr>
                          <m:t>shift</m:t>
                        </m:r>
                      </m:sub>
                    </m:sSub>
                    <m:r>
                      <a:rPr lang="en-GB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𝝈</m:t>
                    </m:r>
                    <m:r>
                      <m:rPr>
                        <m:lit/>
                      </m:rPr>
                      <a:rPr lang="en-GB" b="1" i="1" smtClean="0"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lang="it-IT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it-IT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rad>
                    <m:r>
                      <a:rPr lang="en-GB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7E73717-3A67-3269-3E64-B2ABBCB133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876" y="5834517"/>
                <a:ext cx="3735977" cy="442878"/>
              </a:xfrm>
              <a:prstGeom prst="rect">
                <a:avLst/>
              </a:prstGeom>
              <a:blipFill>
                <a:blip r:embed="rId3"/>
                <a:stretch>
                  <a:fillRect b="-5263"/>
                </a:stretch>
              </a:blipFill>
              <a:ln>
                <a:solidFill>
                  <a:srgbClr val="4DB3FF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27848097-C5CD-780D-C9D6-302C8E58BA96}"/>
              </a:ext>
            </a:extLst>
          </p:cNvPr>
          <p:cNvSpPr txBox="1"/>
          <p:nvPr/>
        </p:nvSpPr>
        <p:spPr>
          <a:xfrm>
            <a:off x="504756" y="1272246"/>
            <a:ext cx="2271580" cy="646331"/>
          </a:xfrm>
          <a:prstGeom prst="rect">
            <a:avLst/>
          </a:prstGeom>
          <a:ln>
            <a:solidFill>
              <a:srgbClr val="4DB3FF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Output </a:t>
            </a:r>
            <a:r>
              <a:rPr lang="en-GB" dirty="0" err="1"/>
              <a:t>temporale</a:t>
            </a:r>
            <a:r>
              <a:rPr lang="en-GB" dirty="0"/>
              <a:t> </a:t>
            </a:r>
            <a:r>
              <a:rPr lang="en-GB" dirty="0" err="1"/>
              <a:t>dello</a:t>
            </a:r>
            <a:r>
              <a:rPr lang="en-GB" dirty="0"/>
              <a:t> SPAD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48CECD7-26E8-2F68-8D87-5B6A54012096}"/>
              </a:ext>
            </a:extLst>
          </p:cNvPr>
          <p:cNvCxnSpPr>
            <a:cxnSpLocks/>
          </p:cNvCxnSpPr>
          <p:nvPr/>
        </p:nvCxnSpPr>
        <p:spPr>
          <a:xfrm>
            <a:off x="1640546" y="1912046"/>
            <a:ext cx="808014" cy="418371"/>
          </a:xfrm>
          <a:prstGeom prst="straightConnector1">
            <a:avLst/>
          </a:prstGeom>
          <a:ln>
            <a:solidFill>
              <a:srgbClr val="4DB3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2DDAC8C-7631-9929-E5B2-2244819D820F}"/>
              </a:ext>
            </a:extLst>
          </p:cNvPr>
          <p:cNvSpPr txBox="1"/>
          <p:nvPr/>
        </p:nvSpPr>
        <p:spPr>
          <a:xfrm>
            <a:off x="137667" y="3406187"/>
            <a:ext cx="2271580" cy="369332"/>
          </a:xfrm>
          <a:prstGeom prst="rect">
            <a:avLst/>
          </a:prstGeom>
          <a:ln>
            <a:solidFill>
              <a:srgbClr val="4DB3FF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Cross-</a:t>
            </a:r>
            <a:r>
              <a:rPr lang="en-GB" dirty="0" err="1"/>
              <a:t>correlazione</a:t>
            </a:r>
            <a:endParaRPr lang="en-GB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183E772-2A1A-F692-C315-424FE5DFEE2D}"/>
              </a:ext>
            </a:extLst>
          </p:cNvPr>
          <p:cNvCxnSpPr>
            <a:cxnSpLocks/>
          </p:cNvCxnSpPr>
          <p:nvPr/>
        </p:nvCxnSpPr>
        <p:spPr>
          <a:xfrm>
            <a:off x="2434771" y="3641653"/>
            <a:ext cx="1273629" cy="219147"/>
          </a:xfrm>
          <a:prstGeom prst="straightConnector1">
            <a:avLst/>
          </a:prstGeom>
          <a:ln>
            <a:solidFill>
              <a:srgbClr val="4DB3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4895725-C4B4-1F28-A1D5-98B2225E34A0}"/>
              </a:ext>
            </a:extLst>
          </p:cNvPr>
          <p:cNvCxnSpPr>
            <a:cxnSpLocks/>
            <a:stCxn id="3" idx="0"/>
          </p:cNvCxnSpPr>
          <p:nvPr/>
        </p:nvCxnSpPr>
        <p:spPr>
          <a:xfrm flipV="1">
            <a:off x="2697865" y="4480560"/>
            <a:ext cx="2565015" cy="1353957"/>
          </a:xfrm>
          <a:prstGeom prst="straightConnector1">
            <a:avLst/>
          </a:prstGeom>
          <a:ln>
            <a:solidFill>
              <a:srgbClr val="4DB3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49FD141-E28D-BF79-1B5A-0AA24280E1F9}"/>
                  </a:ext>
                </a:extLst>
              </p:cNvPr>
              <p:cNvSpPr txBox="1"/>
              <p:nvPr/>
            </p:nvSpPr>
            <p:spPr>
              <a:xfrm>
                <a:off x="4960210" y="5018422"/>
                <a:ext cx="2271580" cy="542393"/>
              </a:xfrm>
              <a:prstGeom prst="rect">
                <a:avLst/>
              </a:prstGeom>
              <a:ln>
                <a:solidFill>
                  <a:srgbClr val="4DB3FF"/>
                </a:solidFill>
              </a:ln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it-IT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G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ab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it-IT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d>
                                </m:sup>
                              </m:sSubSup>
                              <m:d>
                                <m:dPr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</m:d>
                            </m:e>
                          </m:d>
                        </m:e>
                        <m:sub>
                          <m:r>
                            <m:rPr>
                              <m:sty m:val="p"/>
                            </m:rPr>
                            <a:rPr lang="en-GB" b="0" i="1" smtClean="0">
                              <a:latin typeface="Cambria Math" panose="02040503050406030204" pitchFamily="18" charset="0"/>
                            </a:rPr>
                            <m:t>τ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49FD141-E28D-BF79-1B5A-0AA24280E1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0210" y="5018422"/>
                <a:ext cx="2271580" cy="542393"/>
              </a:xfrm>
              <a:prstGeom prst="rect">
                <a:avLst/>
              </a:prstGeom>
              <a:blipFill>
                <a:blip r:embed="rId4"/>
                <a:stretch>
                  <a:fillRect t="-154348" r="-1867" b="-218478"/>
                </a:stretch>
              </a:blipFill>
              <a:ln>
                <a:solidFill>
                  <a:srgbClr val="4DB3FF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99B8F4C-0D1B-FEEE-4503-7063133F584A}"/>
              </a:ext>
            </a:extLst>
          </p:cNvPr>
          <p:cNvCxnSpPr>
            <a:cxnSpLocks/>
            <a:stCxn id="26" idx="0"/>
          </p:cNvCxnSpPr>
          <p:nvPr/>
        </p:nvCxnSpPr>
        <p:spPr>
          <a:xfrm flipV="1">
            <a:off x="6096000" y="4128040"/>
            <a:ext cx="374343" cy="890382"/>
          </a:xfrm>
          <a:prstGeom prst="straightConnector1">
            <a:avLst/>
          </a:prstGeom>
          <a:ln>
            <a:solidFill>
              <a:srgbClr val="4DB3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AB3A090-C074-5EBE-7FE5-903099CB87A9}"/>
                  </a:ext>
                </a:extLst>
              </p:cNvPr>
              <p:cNvSpPr txBox="1"/>
              <p:nvPr/>
            </p:nvSpPr>
            <p:spPr>
              <a:xfrm>
                <a:off x="7643997" y="5118925"/>
                <a:ext cx="850521" cy="369332"/>
              </a:xfrm>
              <a:prstGeom prst="rect">
                <a:avLst/>
              </a:prstGeom>
              <a:ln>
                <a:solidFill>
                  <a:srgbClr val="4DB3FF"/>
                </a:solidFill>
              </a:ln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i="1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GB" b="0" i="1" smtClean="0">
                          <a:latin typeface="Cambria Math" panose="02040503050406030204" pitchFamily="18" charset="0"/>
                        </a:rPr>
                        <m:t>PR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AB3A090-C074-5EBE-7FE5-903099CB87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3997" y="5118925"/>
                <a:ext cx="85052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rgbClr val="4DB3FF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7A380AC-6A08-C62B-DAD4-210869B1C084}"/>
              </a:ext>
            </a:extLst>
          </p:cNvPr>
          <p:cNvCxnSpPr>
            <a:cxnSpLocks/>
            <a:stCxn id="30" idx="0"/>
          </p:cNvCxnSpPr>
          <p:nvPr/>
        </p:nvCxnSpPr>
        <p:spPr>
          <a:xfrm flipV="1">
            <a:off x="8069258" y="4153404"/>
            <a:ext cx="313587" cy="965521"/>
          </a:xfrm>
          <a:prstGeom prst="straightConnector1">
            <a:avLst/>
          </a:prstGeom>
          <a:ln>
            <a:solidFill>
              <a:srgbClr val="4DB3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05487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E08D1-8EB5-C585-90C7-E23981549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720" y="446399"/>
            <a:ext cx="9869129" cy="553998"/>
          </a:xfrm>
        </p:spPr>
        <p:txBody>
          <a:bodyPr>
            <a:normAutofit fontScale="90000"/>
          </a:bodyPr>
          <a:lstStyle/>
          <a:p>
            <a:r>
              <a:rPr lang="it-IT" noProof="0" dirty="0"/>
              <a:t>Implementazione tracce temporali per SOFISM</a:t>
            </a:r>
          </a:p>
        </p:txBody>
      </p:sp>
      <p:pic>
        <p:nvPicPr>
          <p:cNvPr id="6" name="Content Placeholder 5" descr="A graph with colored lines&#10;&#10;AI-generated content may be incorrect.">
            <a:extLst>
              <a:ext uri="{FF2B5EF4-FFF2-40B4-BE49-F238E27FC236}">
                <a16:creationId xmlns:a16="http://schemas.microsoft.com/office/drawing/2014/main" id="{E8C8EDAA-2DEF-7EF2-E851-804CA8A4CC3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011" y="1079642"/>
            <a:ext cx="10967977" cy="2690257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A5CE48D-9C68-81BB-6829-8BAC9B6B166A}"/>
              </a:ext>
            </a:extLst>
          </p:cNvPr>
          <p:cNvSpPr/>
          <p:nvPr/>
        </p:nvSpPr>
        <p:spPr>
          <a:xfrm>
            <a:off x="3159329" y="4119923"/>
            <a:ext cx="6331352" cy="207264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0E9EB3-1500-C293-5504-1D9700DBB81B}"/>
              </a:ext>
            </a:extLst>
          </p:cNvPr>
          <p:cNvSpPr txBox="1"/>
          <p:nvPr/>
        </p:nvSpPr>
        <p:spPr>
          <a:xfrm>
            <a:off x="3396610" y="4359335"/>
            <a:ext cx="63313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 noProof="0" dirty="0"/>
              <a:t>Il QD va in stato OFF a causa di </a:t>
            </a:r>
            <a:r>
              <a:rPr lang="it-IT" sz="2000" b="1" noProof="0" dirty="0"/>
              <a:t>photobleaching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03B0D6-3F52-8073-FC1E-3FA480B683F2}"/>
              </a:ext>
            </a:extLst>
          </p:cNvPr>
          <p:cNvSpPr txBox="1"/>
          <p:nvPr/>
        </p:nvSpPr>
        <p:spPr>
          <a:xfrm>
            <a:off x="3396610" y="4983731"/>
            <a:ext cx="58567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 noProof="0" dirty="0"/>
              <a:t>La bassa intensità di segnale non permette di calcolare la funzione di correlazione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7FB8E4F-7E49-E901-0457-DA748924E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DC76A-8DF0-41FB-8A8C-1F8E409CC644}" type="slidenum">
              <a:rPr lang="en-GB" smtClean="0"/>
              <a:t>16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432185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20A2B-BCF9-21E6-CBDD-4FC4D765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435" y="460351"/>
            <a:ext cx="2740742" cy="561891"/>
          </a:xfrm>
        </p:spPr>
        <p:txBody>
          <a:bodyPr>
            <a:normAutofit fontScale="90000"/>
          </a:bodyPr>
          <a:lstStyle/>
          <a:p>
            <a:r>
              <a:rPr lang="it-IT" sz="4000" noProof="0" dirty="0"/>
              <a:t>Conclusioni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CCEB4BF-C157-DF4A-B1D6-E727EAECCA35}"/>
                  </a:ext>
                </a:extLst>
              </p:cNvPr>
              <p:cNvSpPr txBox="1"/>
              <p:nvPr/>
            </p:nvSpPr>
            <p:spPr>
              <a:xfrm>
                <a:off x="532435" y="1307913"/>
                <a:ext cx="11127130" cy="4708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it-IT" sz="2000" dirty="0"/>
                  <a:t>L’ISM s</a:t>
                </a:r>
                <a:r>
                  <a:rPr lang="it-IT" sz="2000" noProof="0" dirty="0"/>
                  <a:t>i conferma una tecnica robusta per guadagnare in risoluzione senza perdere segnale</a:t>
                </a:r>
              </a:p>
              <a:p>
                <a:endParaRPr lang="it-IT" sz="2000" noProof="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it-IT" sz="2000" noProof="0" dirty="0"/>
                  <a:t>L’efficienza dell’APR dipende significativamente dall’intensità di segnale e influenza la ricostruzione dell’immagine ISM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it-IT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it-IT" sz="2000" dirty="0"/>
                  <a:t>Con il rivelatore PMT è possibile ricostruire immagini SOFI a vari </a:t>
                </a:r>
                <a14:m>
                  <m:oMath xmlns:m="http://schemas.openxmlformats.org/officeDocument/2006/math">
                    <m:r>
                      <a:rPr lang="it-IT" sz="2000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it-IT" sz="2000" dirty="0"/>
                  <a:t>, dimostrando che le tracce temporali contribuiscono a un aumento di risoluzione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it-IT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it-IT" sz="2000" dirty="0"/>
                  <a:t>Il tentativo iniziale con SOFISM ha consentito di identificare i parametri da ottimizzare, orientandoli alla massimizzazione del segnale, condizione necessaria per l’esecuzione dell’APR.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it-IT" sz="2000" noProof="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it-IT" sz="2000" dirty="0"/>
                  <a:t>Il segnale raccolto dai singoli elementi dalla matrice SPAD è minore rispetto al PMT perché viene ripartito nei 49 rivelatori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it-IT" sz="2000" dirty="0"/>
              </a:p>
              <a:p>
                <a:endParaRPr lang="it-IT" sz="2000" noProof="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CCEB4BF-C157-DF4A-B1D6-E727EAECCA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435" y="1307913"/>
                <a:ext cx="11127130" cy="4708981"/>
              </a:xfrm>
              <a:prstGeom prst="rect">
                <a:avLst/>
              </a:prstGeom>
              <a:blipFill>
                <a:blip r:embed="rId2"/>
                <a:stretch>
                  <a:fillRect l="-493" t="-7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891A44-DD4D-8AD3-97ED-0CF8C73C3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DC76A-8DF0-41FB-8A8C-1F8E409CC644}" type="slidenum">
              <a:rPr lang="en-GB" smtClean="0"/>
              <a:t>17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441142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9C7E0A2C-7C0A-4AAC-B3B0-6C12B2EBA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0CB8AD-7CC6-5384-619F-426FBC434F5B}"/>
              </a:ext>
            </a:extLst>
          </p:cNvPr>
          <p:cNvSpPr/>
          <p:nvPr/>
        </p:nvSpPr>
        <p:spPr>
          <a:xfrm>
            <a:off x="0" y="-1"/>
            <a:ext cx="12191999" cy="5187144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3BFD82-CC62-BE8A-C0A5-6145C107A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248587"/>
            <a:ext cx="9144000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GRAZIE PER L’ATTENZIONE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29769"/>
            <a:ext cx="11000232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443BC8-6A1C-71A7-8489-C78122585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85DC76A-8DF0-41FB-8A8C-1F8E409CC644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18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583345-D24C-1199-D30B-BC88254D848D}"/>
              </a:ext>
            </a:extLst>
          </p:cNvPr>
          <p:cNvSpPr/>
          <p:nvPr/>
        </p:nvSpPr>
        <p:spPr>
          <a:xfrm>
            <a:off x="595883" y="6236906"/>
            <a:ext cx="11000232" cy="174099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485924-9EE6-7BF0-4BBC-6F4A84C923FB}"/>
              </a:ext>
            </a:extLst>
          </p:cNvPr>
          <p:cNvSpPr txBox="1"/>
          <p:nvPr/>
        </p:nvSpPr>
        <p:spPr>
          <a:xfrm>
            <a:off x="9181513" y="5567680"/>
            <a:ext cx="2403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GIOVANNI CARMINATI</a:t>
            </a:r>
          </a:p>
        </p:txBody>
      </p:sp>
    </p:spTree>
    <p:extLst>
      <p:ext uri="{BB962C8B-B14F-4D97-AF65-F5344CB8AC3E}">
        <p14:creationId xmlns:p14="http://schemas.microsoft.com/office/powerpoint/2010/main" val="38664569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A5C4D3C86F4CA4CBDD2592D90016301" ma:contentTypeVersion="5" ma:contentTypeDescription="Creare un nuovo documento." ma:contentTypeScope="" ma:versionID="72d7096f4e80b9d0e0f99fa71fa1c65c">
  <xsd:schema xmlns:xsd="http://www.w3.org/2001/XMLSchema" xmlns:xs="http://www.w3.org/2001/XMLSchema" xmlns:p="http://schemas.microsoft.com/office/2006/metadata/properties" xmlns:ns3="d574d2c5-6ff1-4808-8760-926b2865e292" targetNamespace="http://schemas.microsoft.com/office/2006/metadata/properties" ma:root="true" ma:fieldsID="81fa706d8dd51688cd55272b4fea076e" ns3:_="">
    <xsd:import namespace="d574d2c5-6ff1-4808-8760-926b2865e292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74d2c5-6ff1-4808-8760-926b2865e292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07C65EB-5109-4783-BEF7-098F816442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574d2c5-6ff1-4808-8760-926b2865e29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ECFE3AD-0855-49D4-B001-CEC94362DF12}">
  <ds:schemaRefs>
    <ds:schemaRef ds:uri="http://purl.org/dc/elements/1.1/"/>
    <ds:schemaRef ds:uri="http://schemas.microsoft.com/office/infopath/2007/PartnerControls"/>
    <ds:schemaRef ds:uri="http://www.w3.org/XML/1998/namespace"/>
    <ds:schemaRef ds:uri="http://purl.org/dc/dcmitype/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d574d2c5-6ff1-4808-8760-926b2865e292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D43ED141-44A7-4839-A6C8-810C580B75F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1697</TotalTime>
  <Words>641</Words>
  <Application>Microsoft Office PowerPoint</Application>
  <PresentationFormat>Widescreen</PresentationFormat>
  <Paragraphs>120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Cambria Math</vt:lpstr>
      <vt:lpstr>Office Theme</vt:lpstr>
      <vt:lpstr>Uso delle correlazioni temporali nella tecnica ISM (Image Scanning Microscopy)</vt:lpstr>
      <vt:lpstr>Cenni di microscopia confocale</vt:lpstr>
      <vt:lpstr>Risoluzione spaziale</vt:lpstr>
      <vt:lpstr>Impiego delle tracce temporali mediante SOFI</vt:lpstr>
      <vt:lpstr>Image Scanning Microscopy (ISM)</vt:lpstr>
      <vt:lpstr>Matrice SPAD</vt:lpstr>
      <vt:lpstr>PowerPoint Presentation</vt:lpstr>
      <vt:lpstr>Quantum dots</vt:lpstr>
      <vt:lpstr>Apparato sperimentale</vt:lpstr>
      <vt:lpstr>Tracce temporali con PMT</vt:lpstr>
      <vt:lpstr>SOFI</vt:lpstr>
      <vt:lpstr>Acquisizioni e implementazione ISM</vt:lpstr>
      <vt:lpstr>PowerPoint Presentation</vt:lpstr>
      <vt:lpstr>PowerPoint Presentation</vt:lpstr>
      <vt:lpstr>Impiego delle tracce temporali con SOFISM</vt:lpstr>
      <vt:lpstr>Implementazione tracce temporali per SOFISM</vt:lpstr>
      <vt:lpstr>Conclusioni</vt:lpstr>
      <vt:lpstr>GRAZIE PER L’ATTENZIONE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g.carminati17@campus.unimib.it</dc:creator>
  <cp:lastModifiedBy>g.carminati17@campus.unimib.it</cp:lastModifiedBy>
  <cp:revision>44</cp:revision>
  <dcterms:created xsi:type="dcterms:W3CDTF">2025-10-15T05:57:33Z</dcterms:created>
  <dcterms:modified xsi:type="dcterms:W3CDTF">2025-10-21T13:47:05Z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0x0101003A5C4D3C86F4CA4CBDD2592D90016301</vt:lpwstr>
  </property>
</Properties>
</file>